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22"/>
  </p:notesMasterIdLst>
  <p:sldIdLst>
    <p:sldId id="256" r:id="rId3"/>
    <p:sldId id="330" r:id="rId4"/>
    <p:sldId id="331" r:id="rId5"/>
    <p:sldId id="332" r:id="rId6"/>
    <p:sldId id="258" r:id="rId7"/>
    <p:sldId id="259" r:id="rId8"/>
    <p:sldId id="261" r:id="rId9"/>
    <p:sldId id="278" r:id="rId10"/>
    <p:sldId id="279" r:id="rId11"/>
    <p:sldId id="280" r:id="rId12"/>
    <p:sldId id="336" r:id="rId13"/>
    <p:sldId id="337" r:id="rId14"/>
    <p:sldId id="284" r:id="rId15"/>
    <p:sldId id="329" r:id="rId16"/>
    <p:sldId id="338" r:id="rId17"/>
    <p:sldId id="339" r:id="rId18"/>
    <p:sldId id="297" r:id="rId19"/>
    <p:sldId id="299" r:id="rId20"/>
    <p:sldId id="335" r:id="rId21"/>
  </p:sldIdLst>
  <p:sldSz cx="12192000" cy="6858000"/>
  <p:notesSz cx="6858000" cy="9144000"/>
  <p:embeddedFontLst>
    <p:embeddedFont>
      <p:font typeface="Calibri" panose="020F0502020204030204" pitchFamily="34" charset="0"/>
      <p:regular r:id="rId23"/>
      <p:bold r:id="rId24"/>
      <p:italic r:id="rId25"/>
      <p:boldItalic r:id="rId26"/>
    </p:embeddedFont>
    <p:embeddedFont>
      <p:font typeface="Gill Sans" panose="020B0604020202020204" charset="0"/>
      <p:regular r:id="rId27"/>
      <p:bold r:id="rId28"/>
    </p:embeddedFont>
    <p:embeddedFont>
      <p:font typeface="Gill Sans MT" panose="020B0502020104020203" pitchFamily="34" charset="0"/>
      <p:regular r:id="rId29"/>
      <p:bold r:id="rId30"/>
      <p:italic r:id="rId31"/>
      <p:boldItalic r:id="rId32"/>
    </p:embeddedFont>
    <p:embeddedFont>
      <p:font typeface="Noto Sans Symbols" panose="020B0604020202020204" charset="0"/>
      <p:regular r:id="rId33"/>
      <p:bold r:id="rId34"/>
    </p:embeddedFont>
    <p:embeddedFont>
      <p:font typeface="Wingdings 2" panose="05020102010507070707" pitchFamily="18" charset="2"/>
      <p:regular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2" roundtripDataSignature="AMtx7mjR6CRC/UuTuz6mIGHhfesxpGtYd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4.fntdata"/><Relationship Id="rId21" Type="http://schemas.openxmlformats.org/officeDocument/2006/relationships/slide" Target="slides/slide19.xml"/><Relationship Id="rId34" Type="http://schemas.openxmlformats.org/officeDocument/2006/relationships/font" Target="fonts/font12.fntdata"/><Relationship Id="rId8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3.fntdata"/><Relationship Id="rId33" Type="http://schemas.openxmlformats.org/officeDocument/2006/relationships/font" Target="fonts/font11.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7.fntdata"/><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2.fntdata"/><Relationship Id="rId32" Type="http://schemas.openxmlformats.org/officeDocument/2006/relationships/font" Target="fonts/font10.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1.fntdata"/><Relationship Id="rId28" Type="http://schemas.openxmlformats.org/officeDocument/2006/relationships/font" Target="fonts/font6.fntdata"/><Relationship Id="rId82" Type="http://customschemas.google.com/relationships/presentationmetadata" Target="meta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9.fntdata"/><Relationship Id="rId86"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8" Type="http://schemas.openxmlformats.org/officeDocument/2006/relationships/slide" Target="slides/slide6.xml"/><Relationship Id="rId85" Type="http://schemas.openxmlformats.org/officeDocument/2006/relationships/theme" Target="theme/theme1.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6" name="Google Shape;12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 name="Google Shape;13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524d66b2ad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 name="Google Shape;151;g2524d66b2ad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1ddeedea7d3_1_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6" name="Google Shape;336;g1ddeedea7d3_1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2524d66b2ad_0_2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7" name="Google Shape;347;g2524d66b2ad_0_2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2524d66b2ad_0_2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g2524d66b2ad_0_2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2524d66b2ad_0_2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g2524d66b2ad_0_2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384558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2524d66b2ad_0_2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g2524d66b2ad_0_2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621998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524d66b2ad_0_3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2" name="Google Shape;402;g2524d66b2ad_0_3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524d66b2ad_0_3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2" name="Google Shape;402;g2524d66b2ad_0_3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61273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524d66b2ad_0_3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2" name="Google Shape;402;g2524d66b2ad_0_3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316903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524d66b2ad_0_3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2" name="Google Shape;402;g2524d66b2ad_0_3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460046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7" name="Google Shape;547;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7" name="Google Shape;567;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a:extLst>
            <a:ext uri="{FF2B5EF4-FFF2-40B4-BE49-F238E27FC236}">
              <a16:creationId xmlns:a16="http://schemas.microsoft.com/office/drawing/2014/main" id="{49C8B27F-ECA5-CA8B-F3E8-285A398A2B46}"/>
            </a:ext>
          </a:extLst>
        </p:cNvPr>
        <p:cNvGrpSpPr/>
        <p:nvPr/>
      </p:nvGrpSpPr>
      <p:grpSpPr>
        <a:xfrm>
          <a:off x="0" y="0"/>
          <a:ext cx="0" cy="0"/>
          <a:chOff x="0" y="0"/>
          <a:chExt cx="0" cy="0"/>
        </a:xfrm>
      </p:grpSpPr>
      <p:sp>
        <p:nvSpPr>
          <p:cNvPr id="566" name="Google Shape;566;p37:notes">
            <a:extLst>
              <a:ext uri="{FF2B5EF4-FFF2-40B4-BE49-F238E27FC236}">
                <a16:creationId xmlns:a16="http://schemas.microsoft.com/office/drawing/2014/main" id="{C8EC46C2-10C7-FAA1-D72D-4E532DE5F6E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7" name="Google Shape;567;p37:notes">
            <a:extLst>
              <a:ext uri="{FF2B5EF4-FFF2-40B4-BE49-F238E27FC236}">
                <a16:creationId xmlns:a16="http://schemas.microsoft.com/office/drawing/2014/main" id="{00F6E907-6D01-420D-3939-8F7845892C4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70299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8"/>
        <p:cNvGrpSpPr/>
        <p:nvPr/>
      </p:nvGrpSpPr>
      <p:grpSpPr>
        <a:xfrm>
          <a:off x="0" y="0"/>
          <a:ext cx="0" cy="0"/>
          <a:chOff x="0" y="0"/>
          <a:chExt cx="0" cy="0"/>
        </a:xfrm>
      </p:grpSpPr>
      <p:sp>
        <p:nvSpPr>
          <p:cNvPr id="19" name="Google Shape;19;p39"/>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9"/>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9"/>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endParaRPr/>
          </a:p>
        </p:txBody>
      </p:sp>
      <p:sp>
        <p:nvSpPr>
          <p:cNvPr id="22" name="Google Shape;22;p39"/>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9"/>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9"/>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5"/>
        <p:cNvGrpSpPr/>
        <p:nvPr/>
      </p:nvGrpSpPr>
      <p:grpSpPr>
        <a:xfrm>
          <a:off x="0" y="0"/>
          <a:ext cx="0" cy="0"/>
          <a:chOff x="0" y="0"/>
          <a:chExt cx="0" cy="0"/>
        </a:xfrm>
      </p:grpSpPr>
      <p:sp>
        <p:nvSpPr>
          <p:cNvPr id="26" name="Google Shape;26;p40"/>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40"/>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0"/>
          <p:cNvSpPr txBox="1">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29" name="Google Shape;29;p40"/>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0"/>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0"/>
          <p:cNvSpPr txBox="1">
            <a:spLocks noGrp="1"/>
          </p:cNvSpPr>
          <p:nvPr>
            <p:ph type="sldNum" idx="12"/>
          </p:nvPr>
        </p:nvSpPr>
        <p:spPr>
          <a:xfrm>
            <a:off x="10558300" y="5956137"/>
            <a:ext cx="105250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2"/>
        <p:cNvGrpSpPr/>
        <p:nvPr/>
      </p:nvGrpSpPr>
      <p:grpSpPr>
        <a:xfrm>
          <a:off x="0" y="0"/>
          <a:ext cx="0" cy="0"/>
          <a:chOff x="0" y="0"/>
          <a:chExt cx="0" cy="0"/>
        </a:xfrm>
      </p:grpSpPr>
      <p:sp>
        <p:nvSpPr>
          <p:cNvPr id="33" name="Google Shape;33;p41"/>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41"/>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1"/>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endParaRPr/>
          </a:p>
        </p:txBody>
      </p:sp>
      <p:sp>
        <p:nvSpPr>
          <p:cNvPr id="36" name="Google Shape;36;p4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4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4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9"/>
        <p:cNvGrpSpPr/>
        <p:nvPr/>
      </p:nvGrpSpPr>
      <p:grpSpPr>
        <a:xfrm>
          <a:off x="0" y="0"/>
          <a:ext cx="0" cy="0"/>
          <a:chOff x="0" y="0"/>
          <a:chExt cx="0" cy="0"/>
        </a:xfrm>
      </p:grpSpPr>
      <p:sp>
        <p:nvSpPr>
          <p:cNvPr id="40" name="Google Shape;40;p42"/>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42"/>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42"/>
          <p:cNvSpPr txBox="1">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3" name="Google Shape;43;p42"/>
          <p:cNvSpPr txBox="1">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4" name="Google Shape;44;p42"/>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4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42"/>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7"/>
        <p:cNvGrpSpPr/>
        <p:nvPr/>
      </p:nvGrpSpPr>
      <p:grpSpPr>
        <a:xfrm>
          <a:off x="0" y="0"/>
          <a:ext cx="0" cy="0"/>
          <a:chOff x="0" y="0"/>
          <a:chExt cx="0" cy="0"/>
        </a:xfrm>
      </p:grpSpPr>
      <p:sp>
        <p:nvSpPr>
          <p:cNvPr id="48" name="Google Shape;48;p43"/>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4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43"/>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51" name="Google Shape;51;p43"/>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2" name="Google Shape;52;p43"/>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53" name="Google Shape;53;p43"/>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4" name="Google Shape;54;p4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4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43"/>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7"/>
        <p:cNvGrpSpPr/>
        <p:nvPr/>
      </p:nvGrpSpPr>
      <p:grpSpPr>
        <a:xfrm>
          <a:off x="0" y="0"/>
          <a:ext cx="0" cy="0"/>
          <a:chOff x="0" y="0"/>
          <a:chExt cx="0" cy="0"/>
        </a:xfrm>
      </p:grpSpPr>
      <p:sp>
        <p:nvSpPr>
          <p:cNvPr id="58" name="Google Shape;58;p44"/>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4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44"/>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61" name="Google Shape;61;p44"/>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44"/>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63"/>
        <p:cNvGrpSpPr/>
        <p:nvPr/>
      </p:nvGrpSpPr>
      <p:grpSpPr>
        <a:xfrm>
          <a:off x="0" y="0"/>
          <a:ext cx="0" cy="0"/>
          <a:chOff x="0" y="0"/>
          <a:chExt cx="0" cy="0"/>
        </a:xfrm>
      </p:grpSpPr>
      <p:sp>
        <p:nvSpPr>
          <p:cNvPr id="64" name="Google Shape;64;p4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4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45"/>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7"/>
        <p:cNvGrpSpPr/>
        <p:nvPr/>
      </p:nvGrpSpPr>
      <p:grpSpPr>
        <a:xfrm>
          <a:off x="0" y="0"/>
          <a:ext cx="0" cy="0"/>
          <a:chOff x="0" y="0"/>
          <a:chExt cx="0" cy="0"/>
        </a:xfrm>
      </p:grpSpPr>
      <p:sp>
        <p:nvSpPr>
          <p:cNvPr id="68" name="Google Shape;68;p46"/>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46"/>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D58AC"/>
              </a:buClr>
              <a:buSzPts val="2000"/>
              <a:buFont typeface="Gill Sans"/>
              <a:buNone/>
              <a:defRPr sz="2000" b="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46"/>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lnSpc>
                <a:spcPct val="100000"/>
              </a:lnSpc>
              <a:spcBef>
                <a:spcPts val="400"/>
              </a:spcBef>
              <a:spcAft>
                <a:spcPts val="0"/>
              </a:spcAft>
              <a:buSzPts val="1840"/>
              <a:buChar char="◼"/>
              <a:defRPr sz="2000">
                <a:solidFill>
                  <a:schemeClr val="dk2"/>
                </a:solidFill>
              </a:defRPr>
            </a:lvl1pPr>
            <a:lvl2pPr marL="914400" lvl="1" indent="-333756" algn="l">
              <a:lnSpc>
                <a:spcPct val="100000"/>
              </a:lnSpc>
              <a:spcBef>
                <a:spcPts val="600"/>
              </a:spcBef>
              <a:spcAft>
                <a:spcPts val="0"/>
              </a:spcAft>
              <a:buSzPts val="1656"/>
              <a:buChar char="◼"/>
              <a:defRPr sz="1800">
                <a:solidFill>
                  <a:schemeClr val="dk2"/>
                </a:solidFill>
              </a:defRPr>
            </a:lvl2pPr>
            <a:lvl3pPr marL="1371600" lvl="2" indent="-322072" algn="l">
              <a:lnSpc>
                <a:spcPct val="100000"/>
              </a:lnSpc>
              <a:spcBef>
                <a:spcPts val="600"/>
              </a:spcBef>
              <a:spcAft>
                <a:spcPts val="0"/>
              </a:spcAft>
              <a:buSzPts val="1472"/>
              <a:buChar char="◼"/>
              <a:defRPr sz="1600">
                <a:solidFill>
                  <a:schemeClr val="dk2"/>
                </a:solidFill>
              </a:defRPr>
            </a:lvl3pPr>
            <a:lvl4pPr marL="1828800" lvl="3" indent="-310388" algn="l">
              <a:lnSpc>
                <a:spcPct val="100000"/>
              </a:lnSpc>
              <a:spcBef>
                <a:spcPts val="600"/>
              </a:spcBef>
              <a:spcAft>
                <a:spcPts val="0"/>
              </a:spcAft>
              <a:buSzPts val="1288"/>
              <a:buChar char="◼"/>
              <a:defRPr sz="1400">
                <a:solidFill>
                  <a:schemeClr val="dk2"/>
                </a:solidFill>
              </a:defRPr>
            </a:lvl4pPr>
            <a:lvl5pPr marL="2286000" lvl="4" indent="-310388" algn="l">
              <a:lnSpc>
                <a:spcPct val="100000"/>
              </a:lnSpc>
              <a:spcBef>
                <a:spcPts val="600"/>
              </a:spcBef>
              <a:spcAft>
                <a:spcPts val="0"/>
              </a:spcAft>
              <a:buSzPts val="1288"/>
              <a:buChar char="◼"/>
              <a:defRPr sz="1400">
                <a:solidFill>
                  <a:schemeClr val="dk2"/>
                </a:solidFill>
              </a:defRPr>
            </a:lvl5pPr>
            <a:lvl6pPr marL="2743200" lvl="5" indent="-310388" algn="l">
              <a:lnSpc>
                <a:spcPct val="100000"/>
              </a:lnSpc>
              <a:spcBef>
                <a:spcPts val="600"/>
              </a:spcBef>
              <a:spcAft>
                <a:spcPts val="0"/>
              </a:spcAft>
              <a:buSzPts val="1288"/>
              <a:buChar char="◼"/>
              <a:defRPr sz="1400">
                <a:solidFill>
                  <a:schemeClr val="dk2"/>
                </a:solidFill>
              </a:defRPr>
            </a:lvl6pPr>
            <a:lvl7pPr marL="3200400" lvl="6" indent="-310388" algn="l">
              <a:lnSpc>
                <a:spcPct val="100000"/>
              </a:lnSpc>
              <a:spcBef>
                <a:spcPts val="600"/>
              </a:spcBef>
              <a:spcAft>
                <a:spcPts val="0"/>
              </a:spcAft>
              <a:buSzPts val="1288"/>
              <a:buChar char="◼"/>
              <a:defRPr sz="1400">
                <a:solidFill>
                  <a:schemeClr val="dk2"/>
                </a:solidFill>
              </a:defRPr>
            </a:lvl7pPr>
            <a:lvl8pPr marL="3657600" lvl="7" indent="-310388" algn="l">
              <a:lnSpc>
                <a:spcPct val="100000"/>
              </a:lnSpc>
              <a:spcBef>
                <a:spcPts val="600"/>
              </a:spcBef>
              <a:spcAft>
                <a:spcPts val="0"/>
              </a:spcAft>
              <a:buSzPts val="1288"/>
              <a:buChar char="◼"/>
              <a:defRPr sz="1400">
                <a:solidFill>
                  <a:schemeClr val="dk2"/>
                </a:solidFill>
              </a:defRPr>
            </a:lvl8pPr>
            <a:lvl9pPr marL="4114800" lvl="8" indent="-310388" algn="l">
              <a:lnSpc>
                <a:spcPct val="100000"/>
              </a:lnSpc>
              <a:spcBef>
                <a:spcPts val="600"/>
              </a:spcBef>
              <a:spcAft>
                <a:spcPts val="600"/>
              </a:spcAft>
              <a:buSzPts val="1288"/>
              <a:buChar char="◼"/>
              <a:defRPr sz="1400">
                <a:solidFill>
                  <a:schemeClr val="dk2"/>
                </a:solidFill>
              </a:defRPr>
            </a:lvl9pPr>
          </a:lstStyle>
          <a:p>
            <a:endParaRPr/>
          </a:p>
        </p:txBody>
      </p:sp>
      <p:sp>
        <p:nvSpPr>
          <p:cNvPr id="71" name="Google Shape;71;p46"/>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220"/>
              </a:spcBef>
              <a:spcAft>
                <a:spcPts val="0"/>
              </a:spcAft>
              <a:buSzPts val="1012"/>
              <a:buNone/>
              <a:defRPr sz="11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2" name="Google Shape;72;p46"/>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4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6"/>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5"/>
        <p:cNvGrpSpPr/>
        <p:nvPr/>
      </p:nvGrpSpPr>
      <p:grpSpPr>
        <a:xfrm>
          <a:off x="0" y="0"/>
          <a:ext cx="0" cy="0"/>
          <a:chOff x="0" y="0"/>
          <a:chExt cx="0" cy="0"/>
        </a:xfrm>
      </p:grpSpPr>
      <p:sp>
        <p:nvSpPr>
          <p:cNvPr id="76" name="Google Shape;76;p47"/>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47"/>
          <p:cNvSpPr>
            <a:spLocks noGrp="1"/>
          </p:cNvSpPr>
          <p:nvPr>
            <p:ph type="pic" idx="2"/>
          </p:nvPr>
        </p:nvSpPr>
        <p:spPr>
          <a:xfrm>
            <a:off x="447817" y="599725"/>
            <a:ext cx="11290859" cy="3557252"/>
          </a:xfrm>
          <a:prstGeom prst="rect">
            <a:avLst/>
          </a:prstGeom>
          <a:noFill/>
          <a:ln>
            <a:noFill/>
          </a:ln>
        </p:spPr>
      </p:sp>
      <p:sp>
        <p:nvSpPr>
          <p:cNvPr id="78" name="Google Shape;78;p47"/>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104"/>
              <a:buNone/>
              <a:defRPr sz="12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9" name="Google Shape;79;p4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4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4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2"/>
        <p:cNvGrpSpPr/>
        <p:nvPr/>
      </p:nvGrpSpPr>
      <p:grpSpPr>
        <a:xfrm>
          <a:off x="0" y="0"/>
          <a:ext cx="0" cy="0"/>
          <a:chOff x="0" y="0"/>
          <a:chExt cx="0" cy="0"/>
        </a:xfrm>
      </p:grpSpPr>
      <p:sp>
        <p:nvSpPr>
          <p:cNvPr id="83" name="Google Shape;83;p48"/>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48"/>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48"/>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22072" algn="l">
              <a:lnSpc>
                <a:spcPct val="100000"/>
              </a:lnSpc>
              <a:spcBef>
                <a:spcPts val="600"/>
              </a:spcBef>
              <a:spcAft>
                <a:spcPts val="0"/>
              </a:spcAft>
              <a:buSzPts val="1472"/>
              <a:buChar char="◼"/>
              <a:defRPr/>
            </a:lvl2pPr>
            <a:lvl3pPr marL="1371600" lvl="2" indent="-310388" algn="l">
              <a:lnSpc>
                <a:spcPct val="100000"/>
              </a:lnSpc>
              <a:spcBef>
                <a:spcPts val="600"/>
              </a:spcBef>
              <a:spcAft>
                <a:spcPts val="0"/>
              </a:spcAft>
              <a:buSzPts val="1288"/>
              <a:buChar char="◼"/>
              <a:defRPr/>
            </a:lvl3pPr>
            <a:lvl4pPr marL="1828800" lvl="3" indent="-298703" algn="l">
              <a:lnSpc>
                <a:spcPct val="100000"/>
              </a:lnSpc>
              <a:spcBef>
                <a:spcPts val="600"/>
              </a:spcBef>
              <a:spcAft>
                <a:spcPts val="0"/>
              </a:spcAft>
              <a:buSzPts val="1104"/>
              <a:buChar char="◼"/>
              <a:defRPr/>
            </a:lvl4pPr>
            <a:lvl5pPr marL="2286000" lvl="4" indent="-298704" algn="l">
              <a:lnSpc>
                <a:spcPct val="100000"/>
              </a:lnSpc>
              <a:spcBef>
                <a:spcPts val="600"/>
              </a:spcBef>
              <a:spcAft>
                <a:spcPts val="0"/>
              </a:spcAft>
              <a:buSzPts val="1104"/>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6" name="Google Shape;86;p4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4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4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9"/>
        <p:cNvGrpSpPr/>
        <p:nvPr/>
      </p:nvGrpSpPr>
      <p:grpSpPr>
        <a:xfrm>
          <a:off x="0" y="0"/>
          <a:ext cx="0" cy="0"/>
          <a:chOff x="0" y="0"/>
          <a:chExt cx="0" cy="0"/>
        </a:xfrm>
      </p:grpSpPr>
      <p:sp>
        <p:nvSpPr>
          <p:cNvPr id="90" name="Google Shape;90;p49"/>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49"/>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49"/>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93" name="Google Shape;93;p49"/>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49"/>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49"/>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6/8/2026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8644478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7374822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6/8/2026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50431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6/8/2026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5330376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6282622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dirty="0"/>
              <a:pPr/>
              <a:t>6/8/2026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ES"/>
              <a:t>Haga clic para modificar el estilo de título del patrón</a:t>
            </a:r>
            <a:endParaRPr lang="en-US" dirty="0"/>
          </a:p>
        </p:txBody>
      </p:sp>
    </p:spTree>
    <p:extLst>
      <p:ext uri="{BB962C8B-B14F-4D97-AF65-F5344CB8AC3E}">
        <p14:creationId xmlns:p14="http://schemas.microsoft.com/office/powerpoint/2010/main" val="35859741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12072359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6/8/2026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42209327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dirty="0"/>
              <a:t>Haga clic en el icono para agregar una imagen</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6/8/2026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6162631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9422626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6/8/2026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972298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8"/>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11" name="Google Shape;11;p38"/>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lnSpc>
                <a:spcPct val="100000"/>
              </a:lnSpc>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lnSpc>
                <a:spcPct val="100000"/>
              </a:lnSpc>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3" algn="l" rtl="0">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12" name="Google Shape;12;p3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3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3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15" name="Google Shape;15;p38"/>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38"/>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38"/>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6/8/2026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‹Nº›</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C"/>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C"/>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C"/>
          </a:p>
        </p:txBody>
      </p:sp>
    </p:spTree>
    <p:extLst>
      <p:ext uri="{BB962C8B-B14F-4D97-AF65-F5344CB8AC3E}">
        <p14:creationId xmlns:p14="http://schemas.microsoft.com/office/powerpoint/2010/main" val="41183708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
          <p:cNvSpPr txBox="1">
            <a:spLocks noGrp="1"/>
          </p:cNvSpPr>
          <p:nvPr>
            <p:ph type="ctrTitle"/>
          </p:nvPr>
        </p:nvSpPr>
        <p:spPr>
          <a:xfrm>
            <a:off x="517945" y="3608618"/>
            <a:ext cx="10993549" cy="1540782"/>
          </a:xfrm>
          <a:prstGeom prst="rect">
            <a:avLst/>
          </a:prstGeom>
          <a:noFill/>
          <a:ln>
            <a:noFill/>
          </a:ln>
        </p:spPr>
        <p:txBody>
          <a:bodyPr spcFirstLastPara="1" wrap="square" lIns="91425" tIns="45700" rIns="91425" bIns="45700" anchor="b" anchorCtr="0">
            <a:normAutofit/>
          </a:bodyPr>
          <a:lstStyle/>
          <a:p>
            <a:pPr algn="ctr">
              <a:buClr>
                <a:schemeClr val="lt1"/>
              </a:buClr>
            </a:pPr>
            <a:r>
              <a:rPr lang="es-EC" dirty="0">
                <a:solidFill>
                  <a:schemeClr val="lt1"/>
                </a:solidFill>
              </a:rPr>
              <a:t>BASE DE DATOS SQL SERVER EN LA NUBE (AWS)</a:t>
            </a:r>
            <a:br>
              <a:rPr lang="es-EC" dirty="0"/>
            </a:br>
            <a:endParaRPr dirty="0">
              <a:solidFill>
                <a:schemeClr val="lt1"/>
              </a:solidFill>
            </a:endParaRPr>
          </a:p>
        </p:txBody>
      </p:sp>
      <p:sp>
        <p:nvSpPr>
          <p:cNvPr id="101" name="Google Shape;101;p1"/>
          <p:cNvSpPr txBox="1">
            <a:spLocks noGrp="1"/>
          </p:cNvSpPr>
          <p:nvPr>
            <p:ph type="subTitle" idx="1"/>
          </p:nvPr>
        </p:nvSpPr>
        <p:spPr>
          <a:xfrm>
            <a:off x="599226" y="5149400"/>
            <a:ext cx="4734774" cy="123535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72"/>
              <a:buNone/>
            </a:pPr>
            <a:r>
              <a:rPr lang="es-ES" b="1" dirty="0">
                <a:solidFill>
                  <a:schemeClr val="lt1"/>
                </a:solidFill>
              </a:rPr>
              <a:t>INTEGRANTES: 	Axel Herrera</a:t>
            </a:r>
            <a:br>
              <a:rPr lang="es-ES" b="1" dirty="0">
                <a:solidFill>
                  <a:schemeClr val="lt1"/>
                </a:solidFill>
              </a:rPr>
            </a:br>
            <a:r>
              <a:rPr lang="es-ES" b="1" dirty="0">
                <a:solidFill>
                  <a:schemeClr val="lt1"/>
                </a:solidFill>
              </a:rPr>
              <a:t>		Cristian Robalino</a:t>
            </a:r>
            <a:br>
              <a:rPr lang="es-ES" b="1" dirty="0">
                <a:solidFill>
                  <a:schemeClr val="lt1"/>
                </a:solidFill>
              </a:rPr>
            </a:br>
            <a:r>
              <a:rPr lang="es-ES" b="1" dirty="0">
                <a:solidFill>
                  <a:schemeClr val="lt1"/>
                </a:solidFill>
              </a:rPr>
              <a:t>		Raúl Silva</a:t>
            </a:r>
            <a:endParaRPr dirty="0">
              <a:solidFill>
                <a:schemeClr val="lt1"/>
              </a:solidFill>
            </a:endParaRPr>
          </a:p>
        </p:txBody>
      </p:sp>
      <p:pic>
        <p:nvPicPr>
          <p:cNvPr id="102" name="Google Shape;102;p1" descr="Resultado de imagen para espe"/>
          <p:cNvPicPr preferRelativeResize="0"/>
          <p:nvPr/>
        </p:nvPicPr>
        <p:blipFill rotWithShape="1">
          <a:blip r:embed="rId3">
            <a:alphaModFix/>
          </a:blip>
          <a:srcRect/>
          <a:stretch/>
        </p:blipFill>
        <p:spPr>
          <a:xfrm>
            <a:off x="319597" y="716302"/>
            <a:ext cx="11647502" cy="2193925"/>
          </a:xfrm>
          <a:prstGeom prst="rect">
            <a:avLst/>
          </a:prstGeom>
          <a:noFill/>
          <a:ln>
            <a:noFill/>
          </a:ln>
        </p:spPr>
      </p:pic>
      <p:sp>
        <p:nvSpPr>
          <p:cNvPr id="103" name="Google Shape;103;p1"/>
          <p:cNvSpPr txBox="1"/>
          <p:nvPr/>
        </p:nvSpPr>
        <p:spPr>
          <a:xfrm>
            <a:off x="7874425" y="5149400"/>
            <a:ext cx="3718500" cy="1324800"/>
          </a:xfrm>
          <a:prstGeom prst="rect">
            <a:avLst/>
          </a:prstGeom>
          <a:noFill/>
          <a:ln>
            <a:noFill/>
          </a:ln>
        </p:spPr>
        <p:txBody>
          <a:bodyPr spcFirstLastPara="1" wrap="square" lIns="91425" tIns="45700" rIns="91425" bIns="45700" anchor="t" anchorCtr="0">
            <a:noAutofit/>
          </a:bodyPr>
          <a:lstStyle/>
          <a:p>
            <a:r>
              <a:rPr lang="es-ES" sz="1600" b="1" i="0" u="none" strike="noStrike" cap="none" dirty="0">
                <a:solidFill>
                  <a:schemeClr val="lt1"/>
                </a:solidFill>
                <a:latin typeface="Gill Sans"/>
                <a:ea typeface="Gill Sans"/>
                <a:cs typeface="Gill Sans"/>
                <a:sym typeface="Gill Sans"/>
              </a:rPr>
              <a:t>NRC:	</a:t>
            </a:r>
            <a:r>
              <a:rPr lang="es-EC" sz="1600" dirty="0">
                <a:solidFill>
                  <a:schemeClr val="lt1"/>
                </a:solidFill>
                <a:latin typeface="Gill Sans"/>
              </a:rPr>
              <a:t>30741</a:t>
            </a:r>
          </a:p>
          <a:p>
            <a:pPr marL="0" marR="0" lvl="0" indent="0" algn="l" rtl="0">
              <a:lnSpc>
                <a:spcPct val="100000"/>
              </a:lnSpc>
              <a:spcBef>
                <a:spcPts val="920"/>
              </a:spcBef>
              <a:spcAft>
                <a:spcPts val="0"/>
              </a:spcAft>
              <a:buClr>
                <a:schemeClr val="accent2"/>
              </a:buClr>
              <a:buSzPts val="1472"/>
              <a:buFont typeface="Noto Sans Symbols"/>
              <a:buNone/>
            </a:pPr>
            <a:r>
              <a:rPr lang="es-ES" sz="1600" b="1" i="0" u="none" strike="noStrike" cap="none" dirty="0">
                <a:solidFill>
                  <a:schemeClr val="lt1"/>
                </a:solidFill>
                <a:latin typeface="Gill Sans"/>
                <a:ea typeface="Gill Sans"/>
                <a:cs typeface="Gill Sans"/>
                <a:sym typeface="Gill Sans"/>
              </a:rPr>
              <a:t>FECHA: </a:t>
            </a:r>
            <a:r>
              <a:rPr lang="es-ES" sz="1600" b="1" dirty="0">
                <a:solidFill>
                  <a:schemeClr val="lt1"/>
                </a:solidFill>
                <a:latin typeface="Gill Sans"/>
                <a:ea typeface="Gill Sans"/>
                <a:cs typeface="Gill Sans"/>
                <a:sym typeface="Gill Sans"/>
              </a:rPr>
              <a:t>09</a:t>
            </a:r>
            <a:r>
              <a:rPr lang="es-ES" sz="1600" b="1" i="0" u="none" strike="noStrike" cap="none" dirty="0">
                <a:solidFill>
                  <a:schemeClr val="lt1"/>
                </a:solidFill>
                <a:latin typeface="Gill Sans"/>
                <a:ea typeface="Gill Sans"/>
                <a:cs typeface="Gill Sans"/>
                <a:sym typeface="Gill Sans"/>
              </a:rPr>
              <a:t>/6/2026</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920"/>
              </a:spcBef>
              <a:spcAft>
                <a:spcPts val="0"/>
              </a:spcAft>
              <a:buClr>
                <a:schemeClr val="accent2"/>
              </a:buClr>
              <a:buSzPts val="1472"/>
              <a:buFont typeface="Noto Sans Symbols"/>
              <a:buNone/>
            </a:pPr>
            <a:r>
              <a:rPr lang="es-ES" sz="1600" b="1" i="0" u="none" strike="noStrike" cap="none" dirty="0">
                <a:solidFill>
                  <a:schemeClr val="lt1"/>
                </a:solidFill>
                <a:latin typeface="Gill Sans"/>
                <a:ea typeface="Gill Sans"/>
                <a:cs typeface="Gill Sans"/>
                <a:sym typeface="Gill Sans"/>
              </a:rPr>
              <a:t>TUTOR:	</a:t>
            </a:r>
            <a:r>
              <a:rPr lang="es-ES" sz="1600" b="0" i="0" u="none" strike="noStrike" cap="none" dirty="0">
                <a:solidFill>
                  <a:schemeClr val="lt1"/>
                </a:solidFill>
                <a:latin typeface="Gill Sans"/>
                <a:ea typeface="Gill Sans"/>
                <a:cs typeface="Gill Sans"/>
                <a:sym typeface="Gill Sans"/>
              </a:rPr>
              <a:t>ING. MAURICIO CAMPAÑA</a:t>
            </a:r>
            <a:endParaRPr sz="1600" b="1" i="0" u="none" strike="noStrike" cap="none" dirty="0">
              <a:solidFill>
                <a:schemeClr val="lt1"/>
              </a:solidFill>
              <a:latin typeface="Gill Sans"/>
              <a:ea typeface="Gill Sans"/>
              <a:cs typeface="Gill Sans"/>
              <a:sym typeface="Gill Sans"/>
            </a:endParaRPr>
          </a:p>
        </p:txBody>
      </p:sp>
      <p:sp>
        <p:nvSpPr>
          <p:cNvPr id="104" name="Google Shape;104;p1"/>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dk1"/>
                </a:solidFill>
                <a:latin typeface="Gill Sans"/>
                <a:ea typeface="Gill Sans"/>
                <a:cs typeface="Gill Sans"/>
                <a:sym typeface="Gill Sans"/>
              </a:rPr>
              <a:t>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F404549-B4DC-481C-926C-DED3EF1C5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06"/>
            <a:ext cx="12192000" cy="62435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panose="020B0502020104020203"/>
              <a:ea typeface="+mn-ea"/>
              <a:cs typeface="+mn-cs"/>
            </a:endParaRPr>
          </a:p>
        </p:txBody>
      </p:sp>
      <p:sp>
        <p:nvSpPr>
          <p:cNvPr id="13" name="Rectangle 12">
            <a:extLst>
              <a:ext uri="{FF2B5EF4-FFF2-40B4-BE49-F238E27FC236}">
                <a16:creationId xmlns:a16="http://schemas.microsoft.com/office/drawing/2014/main" id="{1E8FD5CD-351E-4B06-8B78-BD5102D009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370747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3" name="Marcador de contenido 2">
            <a:extLst>
              <a:ext uri="{FF2B5EF4-FFF2-40B4-BE49-F238E27FC236}">
                <a16:creationId xmlns:a16="http://schemas.microsoft.com/office/drawing/2014/main" id="{E7FCC8BE-29CF-4C4C-BE9D-AC08DC5E481A}"/>
              </a:ext>
            </a:extLst>
          </p:cNvPr>
          <p:cNvSpPr>
            <a:spLocks noGrp="1"/>
          </p:cNvSpPr>
          <p:nvPr>
            <p:ph idx="1"/>
          </p:nvPr>
        </p:nvSpPr>
        <p:spPr>
          <a:xfrm>
            <a:off x="596348" y="701336"/>
            <a:ext cx="3389726" cy="5424255"/>
          </a:xfrm>
        </p:spPr>
        <p:txBody>
          <a:bodyPr vert="horz" lIns="91440" tIns="45720" rIns="91440" bIns="45720" rtlCol="0" anchor="ctr">
            <a:normAutofit/>
          </a:bodyPr>
          <a:lstStyle/>
          <a:p>
            <a:pPr>
              <a:spcBef>
                <a:spcPts val="0"/>
              </a:spcBef>
              <a:spcAft>
                <a:spcPts val="0"/>
              </a:spcAft>
              <a:buClr>
                <a:schemeClr val="lt1"/>
              </a:buClr>
              <a:buSzPts val="2100"/>
              <a:buFont typeface="Calibri"/>
              <a:buChar char="◼"/>
            </a:pPr>
            <a:r>
              <a:rPr lang="es-ES" b="1" dirty="0">
                <a:solidFill>
                  <a:schemeClr val="lt1"/>
                </a:solidFill>
                <a:latin typeface="Calibri"/>
                <a:ea typeface="Calibri"/>
                <a:cs typeface="Calibri"/>
                <a:sym typeface="Calibri"/>
              </a:rPr>
              <a:t>INTRODUCCIÓN</a:t>
            </a:r>
          </a:p>
          <a:p>
            <a:pPr>
              <a:spcBef>
                <a:spcPts val="0"/>
              </a:spcBef>
              <a:spcAft>
                <a:spcPts val="0"/>
              </a:spcAft>
              <a:buClr>
                <a:schemeClr val="lt1"/>
              </a:buClr>
              <a:buSzPts val="2100"/>
              <a:buFont typeface="Calibri"/>
              <a:buChar char="◼"/>
            </a:pPr>
            <a:r>
              <a:rPr lang="es-ES" b="1" dirty="0">
                <a:solidFill>
                  <a:schemeClr val="lt1"/>
                </a:solidFill>
                <a:latin typeface="Calibri"/>
                <a:ea typeface="Calibri"/>
                <a:cs typeface="Calibri"/>
                <a:sym typeface="Calibri"/>
              </a:rPr>
              <a:t>OBJETIVO</a:t>
            </a:r>
          </a:p>
          <a:p>
            <a:pPr>
              <a:spcBef>
                <a:spcPts val="0"/>
              </a:spcBef>
              <a:spcAft>
                <a:spcPts val="0"/>
              </a:spcAft>
              <a:buClr>
                <a:schemeClr val="lt1"/>
              </a:buClr>
              <a:buSzPts val="2100"/>
              <a:buFont typeface="Calibri"/>
              <a:buChar char="◼"/>
            </a:pPr>
            <a:r>
              <a:rPr lang="es-ES" b="1" dirty="0">
                <a:solidFill>
                  <a:schemeClr val="lt1"/>
                </a:solidFill>
                <a:latin typeface="Calibri"/>
                <a:ea typeface="Calibri"/>
                <a:cs typeface="Calibri"/>
                <a:sym typeface="Calibri"/>
              </a:rPr>
              <a:t>MARCO TEÓRICO</a:t>
            </a:r>
          </a:p>
          <a:p>
            <a:pPr lvl="0">
              <a:spcBef>
                <a:spcPts val="0"/>
              </a:spcBef>
              <a:spcAft>
                <a:spcPts val="0"/>
              </a:spcAft>
              <a:buClr>
                <a:schemeClr val="lt1"/>
              </a:buClr>
              <a:buSzPts val="2100"/>
              <a:buFont typeface="Calibri"/>
              <a:buChar char="◼"/>
            </a:pPr>
            <a:r>
              <a:rPr lang="es-ES" b="1" dirty="0">
                <a:solidFill>
                  <a:schemeClr val="lt1"/>
                </a:solidFill>
                <a:latin typeface="Calibri"/>
                <a:ea typeface="Calibri"/>
                <a:cs typeface="Calibri"/>
                <a:sym typeface="Calibri"/>
              </a:rPr>
              <a:t>DESCRIPCIÓN DEL TALLER</a:t>
            </a:r>
          </a:p>
          <a:p>
            <a:pPr lvl="0">
              <a:spcBef>
                <a:spcPts val="0"/>
              </a:spcBef>
              <a:spcAft>
                <a:spcPts val="0"/>
              </a:spcAft>
              <a:buClr>
                <a:schemeClr val="lt1"/>
              </a:buClr>
              <a:buSzPts val="2100"/>
              <a:buFont typeface="Calibri"/>
              <a:buChar char="◼"/>
            </a:pPr>
            <a:r>
              <a:rPr lang="es-ES" b="1" dirty="0">
                <a:solidFill>
                  <a:schemeClr val="lt1"/>
                </a:solidFill>
                <a:latin typeface="Calibri"/>
                <a:ea typeface="Calibri"/>
                <a:cs typeface="Calibri"/>
                <a:sym typeface="Calibri"/>
              </a:rPr>
              <a:t>CONCLUSIONES</a:t>
            </a:r>
          </a:p>
          <a:p>
            <a:pPr lvl="0">
              <a:spcBef>
                <a:spcPts val="0"/>
              </a:spcBef>
              <a:spcAft>
                <a:spcPts val="0"/>
              </a:spcAft>
              <a:buClr>
                <a:schemeClr val="lt1"/>
              </a:buClr>
              <a:buSzPts val="2100"/>
              <a:buFont typeface="Calibri"/>
              <a:buChar char="◼"/>
            </a:pPr>
            <a:r>
              <a:rPr lang="es-ES" b="1" dirty="0">
                <a:solidFill>
                  <a:schemeClr val="lt1"/>
                </a:solidFill>
                <a:latin typeface="Calibri"/>
                <a:ea typeface="Calibri"/>
                <a:cs typeface="Calibri"/>
                <a:sym typeface="Calibri"/>
              </a:rPr>
              <a:t>RECOMENDACIONES</a:t>
            </a:r>
            <a:endParaRPr lang="es-ES" sz="1100" dirty="0">
              <a:solidFill>
                <a:schemeClr val="dk1"/>
              </a:solidFill>
              <a:latin typeface="Arial"/>
              <a:ea typeface="Calibri"/>
              <a:cs typeface="Arial"/>
              <a:sym typeface="Arial"/>
            </a:endParaRPr>
          </a:p>
          <a:p>
            <a:pPr lvl="0">
              <a:spcBef>
                <a:spcPts val="0"/>
              </a:spcBef>
              <a:spcAft>
                <a:spcPts val="0"/>
              </a:spcAft>
              <a:buClr>
                <a:schemeClr val="lt1"/>
              </a:buClr>
              <a:buSzPts val="2100"/>
              <a:buFont typeface="Calibri"/>
              <a:buChar char="◼"/>
            </a:pPr>
            <a:r>
              <a:rPr lang="es-ES" b="1" dirty="0">
                <a:solidFill>
                  <a:schemeClr val="lt1"/>
                </a:solidFill>
                <a:latin typeface="Calibri"/>
                <a:ea typeface="Calibri"/>
                <a:cs typeface="Calibri"/>
                <a:sym typeface="Calibri"/>
              </a:rPr>
              <a:t>BIBLIOGRAFÍA </a:t>
            </a:r>
            <a:endParaRPr lang="es-ES" dirty="0">
              <a:solidFill>
                <a:schemeClr val="lt1"/>
              </a:solidFill>
            </a:endParaRPr>
          </a:p>
        </p:txBody>
      </p:sp>
      <p:pic>
        <p:nvPicPr>
          <p:cNvPr id="6" name="Picture 2" descr="Resultado de imagen para AGENDA PNG">
            <a:extLst>
              <a:ext uri="{FF2B5EF4-FFF2-40B4-BE49-F238E27FC236}">
                <a16:creationId xmlns:a16="http://schemas.microsoft.com/office/drawing/2014/main" id="{BEAB8E00-371D-4C0F-B6B7-9BEE622AFD7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91522" y="1935576"/>
            <a:ext cx="6489819" cy="3007477"/>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2A76E918-E1AF-47F5-B0A9-06C8BD2DAC04}"/>
              </a:ext>
            </a:extLst>
          </p:cNvPr>
          <p:cNvSpPr txBox="1"/>
          <p:nvPr/>
        </p:nvSpPr>
        <p:spPr>
          <a:xfrm>
            <a:off x="11817675" y="6474048"/>
            <a:ext cx="374325"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C" sz="2000" b="0" i="0" u="none" strike="noStrike" kern="1200" cap="none" spc="0" normalizeH="0" baseline="0" noProof="0" dirty="0">
                <a:ln>
                  <a:noFill/>
                </a:ln>
                <a:solidFill>
                  <a:prstClr val="black"/>
                </a:solidFill>
                <a:effectLst/>
                <a:uLnTx/>
                <a:uFillTx/>
                <a:latin typeface="Gill Sans MT" panose="020B0502020104020203"/>
                <a:ea typeface="+mn-ea"/>
                <a:cs typeface="+mn-cs"/>
              </a:rPr>
              <a:t>2</a:t>
            </a:r>
          </a:p>
        </p:txBody>
      </p:sp>
    </p:spTree>
    <p:extLst>
      <p:ext uri="{BB962C8B-B14F-4D97-AF65-F5344CB8AC3E}">
        <p14:creationId xmlns:p14="http://schemas.microsoft.com/office/powerpoint/2010/main" val="749377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15" name="Google Shape;115;p3" descr="Imagen que contiene electrónica, circuito&#10;&#10;Descripción generada automáticamente"/>
          <p:cNvPicPr preferRelativeResize="0"/>
          <p:nvPr/>
        </p:nvPicPr>
        <p:blipFill rotWithShape="1">
          <a:blip r:embed="rId3">
            <a:alphaModFix amt="35000"/>
          </a:blip>
          <a:srcRect t="15730"/>
          <a:stretch/>
        </p:blipFill>
        <p:spPr>
          <a:xfrm>
            <a:off x="20" y="10"/>
            <a:ext cx="12191980" cy="6857990"/>
          </a:xfrm>
          <a:prstGeom prst="rect">
            <a:avLst/>
          </a:prstGeom>
          <a:noFill/>
          <a:ln>
            <a:noFill/>
          </a:ln>
        </p:spPr>
      </p:pic>
      <p:sp>
        <p:nvSpPr>
          <p:cNvPr id="116" name="Google Shape;116;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INTRODUCCIÓN</a:t>
            </a:r>
            <a:endParaRPr/>
          </a:p>
        </p:txBody>
      </p:sp>
      <p:grpSp>
        <p:nvGrpSpPr>
          <p:cNvPr id="118" name="Google Shape;118;p3"/>
          <p:cNvGrpSpPr/>
          <p:nvPr/>
        </p:nvGrpSpPr>
        <p:grpSpPr>
          <a:xfrm>
            <a:off x="446534" y="453643"/>
            <a:ext cx="11298933" cy="98554"/>
            <a:chOff x="446534" y="453643"/>
            <a:chExt cx="11298933" cy="98554"/>
          </a:xfrm>
        </p:grpSpPr>
        <p:sp>
          <p:nvSpPr>
            <p:cNvPr id="119" name="Google Shape;119;p3"/>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2" name="Google Shape;122;p3"/>
          <p:cNvSpPr txBox="1">
            <a:spLocks noGrp="1"/>
          </p:cNvSpPr>
          <p:nvPr>
            <p:ph type="body" idx="1"/>
          </p:nvPr>
        </p:nvSpPr>
        <p:spPr>
          <a:xfrm>
            <a:off x="397408" y="1865915"/>
            <a:ext cx="8620500" cy="4788103"/>
          </a:xfrm>
          <a:prstGeom prst="rect">
            <a:avLst/>
          </a:prstGeom>
          <a:noFill/>
          <a:ln>
            <a:noFill/>
          </a:ln>
        </p:spPr>
        <p:txBody>
          <a:bodyPr spcFirstLastPara="1" wrap="square" lIns="91425" tIns="45700" rIns="91425" bIns="45700" anchor="ctr" anchorCtr="0">
            <a:normAutofit/>
          </a:bodyPr>
          <a:lstStyle/>
          <a:p>
            <a:r>
              <a:rPr lang="es-ES" dirty="0"/>
              <a:t>En la actualidad, la agilidad no es solo una ventaja, es una necesidad. Tradicionalmente, gestionar una base de datos implicaba lidiar con hardware físico, parches manuales y configuraciones de red complejas.</a:t>
            </a:r>
          </a:p>
          <a:p>
            <a:r>
              <a:rPr lang="es-ES" dirty="0"/>
              <a:t>Hoy, a través de Amazon </a:t>
            </a:r>
            <a:r>
              <a:rPr lang="es-ES" dirty="0" err="1"/>
              <a:t>Relational</a:t>
            </a:r>
            <a:r>
              <a:rPr lang="es-ES" dirty="0"/>
              <a:t> </a:t>
            </a:r>
            <a:r>
              <a:rPr lang="es-ES" dirty="0" err="1"/>
              <a:t>Database</a:t>
            </a:r>
            <a:r>
              <a:rPr lang="es-ES" dirty="0"/>
              <a:t> </a:t>
            </a:r>
            <a:r>
              <a:rPr lang="es-ES" dirty="0" err="1"/>
              <a:t>Service</a:t>
            </a:r>
            <a:r>
              <a:rPr lang="es-ES" dirty="0"/>
              <a:t> (RDS), transformamos ese proceso. AWS nos permite automatizar las tareas administrativas más pesadas como las copias de seguridad, el escalado y la alta disponibilidad para que podamos enfocar nuestro tiempo en lo que realmente genera valor: la lógica de nuestras aplicaciones y la integridad de nuestros datos. A lo largo de esta presentación, exploraremos paso a paso cómo configurar este entorno de manera segura, eficiente y escalable.</a:t>
            </a:r>
          </a:p>
          <a:p>
            <a:pPr marL="457200" lvl="0" indent="-333756" algn="just" rtl="0">
              <a:lnSpc>
                <a:spcPct val="107000"/>
              </a:lnSpc>
              <a:spcBef>
                <a:spcPts val="360"/>
              </a:spcBef>
              <a:spcAft>
                <a:spcPts val="0"/>
              </a:spcAft>
              <a:buSzPts val="1656"/>
              <a:buChar char="◼"/>
            </a:pPr>
            <a:endParaRPr sz="1800" dirty="0">
              <a:latin typeface="Calibri"/>
              <a:ea typeface="Calibri"/>
              <a:cs typeface="Calibri"/>
              <a:sym typeface="Calibri"/>
            </a:endParaRPr>
          </a:p>
        </p:txBody>
      </p:sp>
      <p:sp>
        <p:nvSpPr>
          <p:cNvPr id="123" name="Google Shape;123;p3"/>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a:solidFill>
                  <a:srgbClr val="FFFF00"/>
                </a:solidFill>
                <a:latin typeface="Calibri"/>
                <a:ea typeface="Calibri"/>
                <a:cs typeface="Calibri"/>
                <a:sym typeface="Calibri"/>
              </a:rPr>
              <a:t>INTRODUCCIÓN</a:t>
            </a:r>
            <a:endParaRPr sz="2100" b="1" i="0" u="none" strike="noStrike" cap="none">
              <a:solidFill>
                <a:srgbClr val="FFFF00"/>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a:solidFill>
                  <a:schemeClr val="lt1"/>
                </a:solidFill>
                <a:latin typeface="Calibri"/>
                <a:ea typeface="Calibri"/>
                <a:cs typeface="Calibri"/>
                <a:sym typeface="Calibri"/>
              </a:rPr>
              <a:t>OBJETIVO</a:t>
            </a:r>
            <a:endParaRPr sz="2100" b="1" i="0" u="none" strike="noStrike" cap="none">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a:solidFill>
                  <a:schemeClr val="lt1"/>
                </a:solidFill>
                <a:latin typeface="Calibri"/>
                <a:ea typeface="Calibri"/>
                <a:cs typeface="Calibri"/>
                <a:sym typeface="Calibri"/>
              </a:rPr>
              <a:t>MARCO TEÓRICO</a:t>
            </a:r>
            <a:endParaRPr sz="2100" b="1" i="0" u="none" strike="noStrike" cap="none">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a:solidFill>
                  <a:schemeClr val="lt1"/>
                </a:solidFill>
                <a:latin typeface="Calibri"/>
                <a:ea typeface="Calibri"/>
                <a:cs typeface="Calibri"/>
                <a:sym typeface="Calibri"/>
              </a:rPr>
              <a:t>DESCRIPCIÓN DEL TALLER</a:t>
            </a:r>
            <a:endParaRPr sz="2100" b="1" i="0" u="none" strike="noStrike" cap="none">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a:solidFill>
                  <a:schemeClr val="lt1"/>
                </a:solidFill>
                <a:latin typeface="Calibri"/>
                <a:ea typeface="Calibri"/>
                <a:cs typeface="Calibri"/>
                <a:sym typeface="Calibri"/>
              </a:rPr>
              <a:t>DESARROLLO</a:t>
            </a:r>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a:solidFill>
                  <a:schemeClr val="lt1"/>
                </a:solidFill>
                <a:latin typeface="Calibri"/>
                <a:ea typeface="Calibri"/>
                <a:cs typeface="Calibri"/>
                <a:sym typeface="Calibri"/>
              </a:rPr>
              <a:t>CONCLUSIONES</a:t>
            </a:r>
            <a:endParaRPr sz="2100" b="1" i="0" u="none" strike="noStrike" cap="none">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a:solidFill>
                  <a:schemeClr val="lt1"/>
                </a:solidFill>
                <a:latin typeface="Calibri"/>
                <a:ea typeface="Calibri"/>
                <a:cs typeface="Calibri"/>
                <a:sym typeface="Calibri"/>
              </a:rPr>
              <a:t>RECOMENDACIONES</a:t>
            </a:r>
            <a:endParaRPr sz="1400" b="0" i="0" u="none" strike="noStrike" cap="none">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a:solidFill>
                  <a:schemeClr val="lt1"/>
                </a:solidFill>
                <a:latin typeface="Calibri"/>
                <a:ea typeface="Calibri"/>
                <a:cs typeface="Calibri"/>
                <a:sym typeface="Calibri"/>
              </a:rPr>
              <a:t>BIBLIOGRAFÍA </a:t>
            </a:r>
            <a:endParaRPr sz="2100" b="1" i="0" u="none" strike="noStrike" cap="none">
              <a:solidFill>
                <a:srgbClr val="FFFF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29" name="Google Shape;129;p4" descr="Imagen que contiene electrónica, circuito&#10;&#10;Descripción generada automáticamente"/>
          <p:cNvPicPr preferRelativeResize="0"/>
          <p:nvPr/>
        </p:nvPicPr>
        <p:blipFill rotWithShape="1">
          <a:blip r:embed="rId3">
            <a:alphaModFix amt="35000"/>
          </a:blip>
          <a:srcRect t="15730"/>
          <a:stretch/>
        </p:blipFill>
        <p:spPr>
          <a:xfrm>
            <a:off x="-2500" y="10"/>
            <a:ext cx="12191980" cy="6857990"/>
          </a:xfrm>
          <a:prstGeom prst="rect">
            <a:avLst/>
          </a:prstGeom>
          <a:noFill/>
          <a:ln>
            <a:noFill/>
          </a:ln>
        </p:spPr>
      </p:pic>
      <p:sp>
        <p:nvSpPr>
          <p:cNvPr id="130" name="Google Shape;130;p4"/>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p4"/>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OBJETIVO</a:t>
            </a:r>
            <a:endParaRPr/>
          </a:p>
        </p:txBody>
      </p:sp>
      <p:grpSp>
        <p:nvGrpSpPr>
          <p:cNvPr id="132" name="Google Shape;132;p4"/>
          <p:cNvGrpSpPr/>
          <p:nvPr/>
        </p:nvGrpSpPr>
        <p:grpSpPr>
          <a:xfrm>
            <a:off x="446534" y="453643"/>
            <a:ext cx="11298933" cy="98554"/>
            <a:chOff x="446534" y="453643"/>
            <a:chExt cx="11298933" cy="98554"/>
          </a:xfrm>
        </p:grpSpPr>
        <p:sp>
          <p:nvSpPr>
            <p:cNvPr id="133" name="Google Shape;133;p4"/>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4"/>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4"/>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36" name="Google Shape;136;p4"/>
          <p:cNvSpPr txBox="1">
            <a:spLocks noGrp="1"/>
          </p:cNvSpPr>
          <p:nvPr>
            <p:ph type="body" idx="1"/>
          </p:nvPr>
        </p:nvSpPr>
        <p:spPr>
          <a:xfrm>
            <a:off x="440281" y="2418102"/>
            <a:ext cx="8620500" cy="3080100"/>
          </a:xfrm>
          <a:prstGeom prst="rect">
            <a:avLst/>
          </a:prstGeom>
          <a:noFill/>
          <a:ln>
            <a:noFill/>
          </a:ln>
        </p:spPr>
        <p:txBody>
          <a:bodyPr spcFirstLastPara="1" wrap="square" lIns="91425" tIns="45700" rIns="91425" bIns="45700" anchor="ctr" anchorCtr="0">
            <a:normAutofit/>
          </a:bodyPr>
          <a:lstStyle/>
          <a:p>
            <a:pPr marL="457200" lvl="0" indent="-333756" algn="l" rtl="0">
              <a:lnSpc>
                <a:spcPct val="107000"/>
              </a:lnSpc>
              <a:spcBef>
                <a:spcPts val="360"/>
              </a:spcBef>
              <a:spcAft>
                <a:spcPts val="800"/>
              </a:spcAft>
              <a:buSzPts val="1656"/>
              <a:buChar char="◼"/>
            </a:pPr>
            <a:r>
              <a:rPr lang="es-ES" dirty="0"/>
              <a:t>Analizar y comprender el proceso de diseño, aprovisionamiento y administración de bases de datos relacionales mediante Amazon RDS, fundamentando las decisiones técnicas en los pilares de la arquitectura orientada a la nube (seguridad, fiabilidad y eficiencia en el rendimiento).</a:t>
            </a:r>
            <a:endParaRPr sz="1800" dirty="0">
              <a:latin typeface="Calibri"/>
              <a:ea typeface="Calibri"/>
              <a:cs typeface="Calibri"/>
              <a:sym typeface="Calibri"/>
            </a:endParaRPr>
          </a:p>
        </p:txBody>
      </p:sp>
      <p:sp>
        <p:nvSpPr>
          <p:cNvPr id="137" name="Google Shape;137;p4"/>
          <p:cNvSpPr/>
          <p:nvPr/>
        </p:nvSpPr>
        <p:spPr>
          <a:xfrm>
            <a:off x="9060775" y="0"/>
            <a:ext cx="31311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457200" marR="0" lvl="0" indent="-361950" algn="l" rtl="0">
              <a:lnSpc>
                <a:spcPct val="100000"/>
              </a:lnSpc>
              <a:spcBef>
                <a:spcPts val="0"/>
              </a:spcBef>
              <a:spcAft>
                <a:spcPts val="0"/>
              </a:spcAft>
              <a:buClr>
                <a:srgbClr val="FFFF00"/>
              </a:buClr>
              <a:buSzPts val="2100"/>
              <a:buFont typeface="Noto Sans Symbols"/>
              <a:buChar char="◼"/>
            </a:pPr>
            <a:r>
              <a:rPr lang="es-ES" sz="2100" b="1" i="0" u="none" strike="noStrike" cap="none">
                <a:solidFill>
                  <a:schemeClr val="lt1"/>
                </a:solidFill>
                <a:latin typeface="Calibri"/>
                <a:ea typeface="Calibri"/>
                <a:cs typeface="Calibri"/>
                <a:sym typeface="Calibri"/>
              </a:rPr>
              <a:t>INTRODUCCIÓN</a:t>
            </a:r>
            <a:endParaRPr sz="2100" b="1" i="0" u="none" strike="noStrike" cap="none">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a:solidFill>
                  <a:srgbClr val="FFFF00"/>
                </a:solidFill>
                <a:latin typeface="Calibri"/>
                <a:ea typeface="Calibri"/>
                <a:cs typeface="Calibri"/>
                <a:sym typeface="Calibri"/>
              </a:rPr>
              <a:t>OBJETIVO</a:t>
            </a:r>
            <a:endParaRPr sz="2100" b="1" i="0" u="none" strike="noStrike" cap="none">
              <a:solidFill>
                <a:srgbClr val="FFFF00"/>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a:solidFill>
                  <a:schemeClr val="lt1"/>
                </a:solidFill>
                <a:latin typeface="Calibri"/>
                <a:ea typeface="Calibri"/>
                <a:cs typeface="Calibri"/>
                <a:sym typeface="Calibri"/>
              </a:rPr>
              <a:t>MARCO TEÓRICO</a:t>
            </a:r>
            <a:endParaRPr sz="2100" b="1" i="0" u="none" strike="noStrike" cap="none">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a:solidFill>
                  <a:schemeClr val="lt1"/>
                </a:solidFill>
                <a:latin typeface="Calibri"/>
                <a:ea typeface="Calibri"/>
                <a:cs typeface="Calibri"/>
                <a:sym typeface="Calibri"/>
              </a:rPr>
              <a:t>DESCRIPCIÓN DEL TALLER</a:t>
            </a:r>
            <a:endParaRPr sz="2100" b="1" i="0" u="none" strike="noStrike" cap="none">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Calibri"/>
              <a:buChar char="◼"/>
            </a:pPr>
            <a:r>
              <a:rPr lang="es-ES" sz="2100" b="1" i="0" u="none" strike="noStrike" cap="none">
                <a:solidFill>
                  <a:schemeClr val="lt1"/>
                </a:solidFill>
                <a:latin typeface="Calibri"/>
                <a:ea typeface="Calibri"/>
                <a:cs typeface="Calibri"/>
                <a:sym typeface="Calibri"/>
              </a:rPr>
              <a:t>DESARROLLO</a:t>
            </a:r>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a:solidFill>
                  <a:schemeClr val="lt1"/>
                </a:solidFill>
                <a:latin typeface="Calibri"/>
                <a:ea typeface="Calibri"/>
                <a:cs typeface="Calibri"/>
                <a:sym typeface="Calibri"/>
              </a:rPr>
              <a:t>CONCLUSIONES</a:t>
            </a:r>
            <a:endParaRPr sz="2100" b="1" i="0" u="none" strike="noStrike" cap="none">
              <a:solidFill>
                <a:schemeClr val="lt1"/>
              </a:solidFill>
              <a:latin typeface="Calibri"/>
              <a:ea typeface="Calibri"/>
              <a:cs typeface="Calibri"/>
              <a:sym typeface="Calibri"/>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a:solidFill>
                  <a:schemeClr val="lt1"/>
                </a:solidFill>
                <a:latin typeface="Calibri"/>
                <a:ea typeface="Calibri"/>
                <a:cs typeface="Calibri"/>
                <a:sym typeface="Calibri"/>
              </a:rPr>
              <a:t>RECOMENDACIONES</a:t>
            </a:r>
            <a:endParaRPr sz="1400" b="0" i="0" u="none" strike="noStrike" cap="none">
              <a:solidFill>
                <a:schemeClr val="dk1"/>
              </a:solidFill>
              <a:latin typeface="Arial"/>
              <a:ea typeface="Arial"/>
              <a:cs typeface="Arial"/>
              <a:sym typeface="Arial"/>
            </a:endParaRPr>
          </a:p>
          <a:p>
            <a:pPr marL="457200" marR="0" lvl="0" indent="-361950" algn="l" rtl="0">
              <a:lnSpc>
                <a:spcPct val="100000"/>
              </a:lnSpc>
              <a:spcBef>
                <a:spcPts val="0"/>
              </a:spcBef>
              <a:spcAft>
                <a:spcPts val="0"/>
              </a:spcAft>
              <a:buClr>
                <a:schemeClr val="lt1"/>
              </a:buClr>
              <a:buSzPts val="2100"/>
              <a:buFont typeface="Noto Sans Symbols"/>
              <a:buChar char="◼"/>
            </a:pPr>
            <a:r>
              <a:rPr lang="es-ES" sz="2100" b="1" i="0" u="none" strike="noStrike" cap="none">
                <a:solidFill>
                  <a:schemeClr val="lt1"/>
                </a:solidFill>
                <a:latin typeface="Calibri"/>
                <a:ea typeface="Calibri"/>
                <a:cs typeface="Calibri"/>
                <a:sym typeface="Calibri"/>
              </a:rPr>
              <a:t>BIBLIOGRAFÍA </a:t>
            </a:r>
            <a:endParaRPr sz="2100" b="1" i="0" u="none" strike="noStrike" cap="none">
              <a:solidFill>
                <a:srgbClr val="FFFF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0"/>
        <p:cNvGrpSpPr/>
        <p:nvPr/>
      </p:nvGrpSpPr>
      <p:grpSpPr>
        <a:xfrm>
          <a:off x="0" y="0"/>
          <a:ext cx="0" cy="0"/>
          <a:chOff x="0" y="0"/>
          <a:chExt cx="0" cy="0"/>
        </a:xfrm>
      </p:grpSpPr>
      <p:sp>
        <p:nvSpPr>
          <p:cNvPr id="121" name="Google Shape;121;p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22" name="Google Shape;122;p7"/>
          <p:cNvSpPr/>
          <p:nvPr/>
        </p:nvSpPr>
        <p:spPr>
          <a:xfrm>
            <a:off x="581190" y="457201"/>
            <a:ext cx="7363959" cy="91439"/>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7"/>
          <p:cNvSpPr/>
          <p:nvPr/>
        </p:nvSpPr>
        <p:spPr>
          <a:xfrm>
            <a:off x="8239774" y="453643"/>
            <a:ext cx="329184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7"/>
          <p:cNvSpPr/>
          <p:nvPr/>
        </p:nvSpPr>
        <p:spPr>
          <a:xfrm>
            <a:off x="581189" y="681070"/>
            <a:ext cx="7363960" cy="569338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25" name="Google Shape;125;p7"/>
          <p:cNvSpPr txBox="1">
            <a:spLocks noGrp="1"/>
          </p:cNvSpPr>
          <p:nvPr>
            <p:ph type="title"/>
          </p:nvPr>
        </p:nvSpPr>
        <p:spPr>
          <a:xfrm>
            <a:off x="996381" y="1152939"/>
            <a:ext cx="6583680" cy="4539113"/>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FFFFFF"/>
              </a:buClr>
              <a:buSzPts val="5400"/>
              <a:buFont typeface="Gill Sans"/>
              <a:buNone/>
            </a:pPr>
            <a:r>
              <a:rPr lang="es-ES" sz="5400">
                <a:solidFill>
                  <a:srgbClr val="FFFFFF"/>
                </a:solidFill>
              </a:rPr>
              <a:t>2	DESARROLLO</a:t>
            </a:r>
            <a:endParaRPr sz="5400">
              <a:solidFill>
                <a:srgbClr val="FFFFFF"/>
              </a:solidFill>
            </a:endParaRPr>
          </a:p>
        </p:txBody>
      </p:sp>
      <p:sp>
        <p:nvSpPr>
          <p:cNvPr id="126" name="Google Shape;126;p7"/>
          <p:cNvSpPr txBox="1">
            <a:spLocks noGrp="1"/>
          </p:cNvSpPr>
          <p:nvPr>
            <p:ph type="body" idx="1"/>
          </p:nvPr>
        </p:nvSpPr>
        <p:spPr>
          <a:xfrm>
            <a:off x="8210681" y="1152939"/>
            <a:ext cx="3400126" cy="4539113"/>
          </a:xfrm>
          <a:prstGeom prst="rect">
            <a:avLst/>
          </a:prstGeom>
          <a:noFill/>
          <a:ln>
            <a:noFill/>
          </a:ln>
        </p:spPr>
        <p:txBody>
          <a:bodyPr spcFirstLastPara="1" wrap="square" lIns="91425" tIns="45700" rIns="91425" bIns="45700" anchor="ctr" anchorCtr="0">
            <a:normAutofit/>
          </a:bodyPr>
          <a:lstStyle/>
          <a:p>
            <a:pPr marL="306000" lvl="0" indent="0" algn="l" rtl="0">
              <a:lnSpc>
                <a:spcPct val="100000"/>
              </a:lnSpc>
              <a:spcBef>
                <a:spcPts val="0"/>
              </a:spcBef>
              <a:spcAft>
                <a:spcPts val="0"/>
              </a:spcAft>
              <a:buSzPts val="1656"/>
              <a:buNone/>
            </a:pPr>
            <a:endParaRPr/>
          </a:p>
          <a:p>
            <a:pPr marL="306000" lvl="0" indent="-200844" algn="l" rtl="0">
              <a:lnSpc>
                <a:spcPct val="100000"/>
              </a:lnSpc>
              <a:spcBef>
                <a:spcPts val="960"/>
              </a:spcBef>
              <a:spcAft>
                <a:spcPts val="0"/>
              </a:spcAft>
              <a:buSzPts val="1656"/>
              <a:buNone/>
            </a:pPr>
            <a:endParaRPr/>
          </a:p>
        </p:txBody>
      </p:sp>
      <p:sp>
        <p:nvSpPr>
          <p:cNvPr id="127" name="Google Shape;127;p7"/>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dk1"/>
                </a:solidFill>
                <a:latin typeface="Gill Sans"/>
                <a:ea typeface="Gill Sans"/>
                <a:cs typeface="Gill Sans"/>
                <a:sym typeface="Gill Sans"/>
              </a:rPr>
              <a:t>7</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8"/>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MX" dirty="0"/>
              <a:t>2.1.1.	CREAR CUENTA EN AWS</a:t>
            </a:r>
            <a:endParaRPr lang="es-ES" dirty="0"/>
          </a:p>
        </p:txBody>
      </p:sp>
      <p:sp>
        <p:nvSpPr>
          <p:cNvPr id="133" name="Google Shape;133;p8"/>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8</a:t>
            </a:r>
            <a:endParaRPr sz="1400" b="0" i="0" u="none" strike="noStrike" cap="none">
              <a:solidFill>
                <a:srgbClr val="000000"/>
              </a:solidFill>
              <a:latin typeface="Arial"/>
              <a:ea typeface="Arial"/>
              <a:cs typeface="Arial"/>
              <a:sym typeface="Arial"/>
            </a:endParaRPr>
          </a:p>
        </p:txBody>
      </p:sp>
      <p:sp>
        <p:nvSpPr>
          <p:cNvPr id="134" name="Google Shape;134;p8"/>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35" name="Google Shape;135;p8"/>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38" name="Google Shape;138;p8"/>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1	OBJETIVOS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dirty="0">
                <a:solidFill>
                  <a:srgbClr val="FFFF00"/>
                </a:solidFill>
                <a:latin typeface="Gill Sans"/>
                <a:ea typeface="Gill Sans"/>
                <a:cs typeface="Gill Sans"/>
                <a:sym typeface="Gill Sans"/>
              </a:rPr>
              <a:t>2</a:t>
            </a:r>
            <a:r>
              <a:rPr lang="es-ES" sz="1100" b="0" i="0" u="none" strike="noStrike" cap="none" dirty="0">
                <a:solidFill>
                  <a:srgbClr val="FFFF00"/>
                </a:solidFill>
                <a:latin typeface="Gill Sans"/>
                <a:ea typeface="Gill Sans"/>
                <a:cs typeface="Gill Sans"/>
                <a:sym typeface="Gill Sans"/>
              </a:rPr>
              <a:t>	</a:t>
            </a:r>
            <a:r>
              <a:rPr lang="es-ES" sz="1100" dirty="0">
                <a:solidFill>
                  <a:srgbClr val="FFFF00"/>
                </a:solidFill>
                <a:latin typeface="Gill Sans"/>
                <a:ea typeface="Gill Sans"/>
                <a:cs typeface="Gill Sans"/>
                <a:sym typeface="Gill Sans"/>
              </a:rPr>
              <a:t>DESARROLLO</a:t>
            </a:r>
            <a:endParaRPr sz="1100" b="0" i="0" u="none" strike="noStrike" cap="none" dirty="0">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3	</a:t>
            </a:r>
            <a:r>
              <a:rPr lang="es-ES" sz="1100" dirty="0">
                <a:solidFill>
                  <a:schemeClr val="lt1"/>
                </a:solidFill>
                <a:latin typeface="Gill Sans"/>
                <a:ea typeface="Gill Sans"/>
                <a:cs typeface="Gill Sans"/>
                <a:sym typeface="Gill Sans"/>
              </a:rPr>
              <a:t>EJECUCIÓN</a:t>
            </a:r>
            <a:endParaRPr sz="1100" b="0" i="0" u="none" strike="noStrike" cap="none" dirty="0">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4	CONCLUSIONES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5	RECOMENDACIONES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6	BIBLIOGRAFÍA</a:t>
            </a:r>
            <a:endParaRPr sz="1100" b="0" i="0" u="none" strike="noStrike" cap="none" dirty="0">
              <a:solidFill>
                <a:srgbClr val="FFFF00"/>
              </a:solidFill>
              <a:latin typeface="Gill Sans"/>
              <a:ea typeface="Gill Sans"/>
              <a:cs typeface="Gill Sans"/>
              <a:sym typeface="Gill Sans"/>
            </a:endParaRPr>
          </a:p>
        </p:txBody>
      </p:sp>
      <p:sp>
        <p:nvSpPr>
          <p:cNvPr id="4" name="Marcador de texto 3">
            <a:extLst>
              <a:ext uri="{FF2B5EF4-FFF2-40B4-BE49-F238E27FC236}">
                <a16:creationId xmlns:a16="http://schemas.microsoft.com/office/drawing/2014/main" id="{4041AC90-D7DF-4BD6-910F-D3A7C2BFABE9}"/>
              </a:ext>
            </a:extLst>
          </p:cNvPr>
          <p:cNvSpPr>
            <a:spLocks noGrp="1"/>
          </p:cNvSpPr>
          <p:nvPr>
            <p:ph type="body" idx="1"/>
          </p:nvPr>
        </p:nvSpPr>
        <p:spPr/>
        <p:txBody>
          <a:bodyPr/>
          <a:lstStyle/>
          <a:p>
            <a:endParaRPr lang="es-EC"/>
          </a:p>
        </p:txBody>
      </p:sp>
      <p:pic>
        <p:nvPicPr>
          <p:cNvPr id="8" name="Imagen 7">
            <a:extLst>
              <a:ext uri="{FF2B5EF4-FFF2-40B4-BE49-F238E27FC236}">
                <a16:creationId xmlns:a16="http://schemas.microsoft.com/office/drawing/2014/main" id="{55BE94EC-6876-4DB9-AABD-C9D3C46F737D}"/>
              </a:ext>
            </a:extLst>
          </p:cNvPr>
          <p:cNvPicPr>
            <a:picLocks noChangeAspect="1"/>
          </p:cNvPicPr>
          <p:nvPr/>
        </p:nvPicPr>
        <p:blipFill>
          <a:blip r:embed="rId3"/>
          <a:stretch>
            <a:fillRect/>
          </a:stretch>
        </p:blipFill>
        <p:spPr>
          <a:xfrm>
            <a:off x="1190132" y="2038170"/>
            <a:ext cx="7068536" cy="3962953"/>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2524d66b2ad_0_10"/>
          <p:cNvSpPr txBox="1">
            <a:spLocks noGrp="1"/>
          </p:cNvSpPr>
          <p:nvPr>
            <p:ph type="body" idx="1"/>
          </p:nvPr>
        </p:nvSpPr>
        <p:spPr>
          <a:xfrm>
            <a:off x="2040905" y="2094767"/>
            <a:ext cx="5520479" cy="1500554"/>
          </a:xfrm>
          <a:prstGeom prst="rect">
            <a:avLst/>
          </a:prstGeom>
          <a:noFill/>
          <a:ln>
            <a:noFill/>
          </a:ln>
        </p:spPr>
        <p:txBody>
          <a:bodyPr spcFirstLastPara="1" wrap="square" lIns="91425" tIns="45700" rIns="91425" bIns="45700" anchor="ctr" anchorCtr="0">
            <a:normAutofit fontScale="92500" lnSpcReduction="10000"/>
          </a:bodyPr>
          <a:lstStyle/>
          <a:p>
            <a:pPr marL="306000" lvl="0" indent="-305998" algn="l" rtl="0">
              <a:lnSpc>
                <a:spcPct val="115000"/>
              </a:lnSpc>
              <a:spcBef>
                <a:spcPts val="1200"/>
              </a:spcBef>
              <a:spcAft>
                <a:spcPts val="0"/>
              </a:spcAft>
              <a:buClr>
                <a:schemeClr val="dk1"/>
              </a:buClr>
              <a:buSzPts val="1656"/>
              <a:buChar char="◼"/>
            </a:pPr>
            <a:r>
              <a:rPr lang="es-ES" dirty="0">
                <a:solidFill>
                  <a:schemeClr val="dk1"/>
                </a:solidFill>
              </a:rPr>
              <a:t>Es necesario ingresar una tarjeta de crédito para poder habilitar los servicios de AWS aún solo si se va a hacer uso de la capa gratuita</a:t>
            </a:r>
            <a:endParaRPr dirty="0">
              <a:solidFill>
                <a:schemeClr val="dk1"/>
              </a:solidFill>
            </a:endParaRPr>
          </a:p>
          <a:p>
            <a:pPr marL="0" lvl="0" indent="0" algn="l" rtl="0">
              <a:lnSpc>
                <a:spcPct val="115000"/>
              </a:lnSpc>
              <a:spcBef>
                <a:spcPts val="1200"/>
              </a:spcBef>
              <a:spcAft>
                <a:spcPts val="0"/>
              </a:spcAft>
              <a:buClr>
                <a:schemeClr val="dk1"/>
              </a:buClr>
              <a:buSzPts val="1656"/>
              <a:buNone/>
            </a:pPr>
            <a:r>
              <a:rPr lang="es-ES" dirty="0">
                <a:solidFill>
                  <a:schemeClr val="dk1"/>
                </a:solidFill>
              </a:rPr>
              <a:t> </a:t>
            </a:r>
            <a:endParaRPr dirty="0">
              <a:solidFill>
                <a:schemeClr val="dk1"/>
              </a:solidFill>
            </a:endParaRPr>
          </a:p>
          <a:p>
            <a:pPr marL="306000" lvl="0" indent="0" algn="l" rtl="0">
              <a:lnSpc>
                <a:spcPct val="115000"/>
              </a:lnSpc>
              <a:spcBef>
                <a:spcPts val="1200"/>
              </a:spcBef>
              <a:spcAft>
                <a:spcPts val="0"/>
              </a:spcAft>
              <a:buSzPts val="1948"/>
              <a:buNone/>
            </a:pPr>
            <a:endParaRPr dirty="0">
              <a:solidFill>
                <a:schemeClr val="dk1"/>
              </a:solidFill>
            </a:endParaRPr>
          </a:p>
          <a:p>
            <a:pPr marL="306000" lvl="0" indent="0" algn="just" rtl="0">
              <a:lnSpc>
                <a:spcPct val="115000"/>
              </a:lnSpc>
              <a:spcBef>
                <a:spcPts val="1200"/>
              </a:spcBef>
              <a:spcAft>
                <a:spcPts val="1200"/>
              </a:spcAft>
              <a:buSzPts val="1948"/>
              <a:buNone/>
            </a:pPr>
            <a:endParaRPr dirty="0">
              <a:solidFill>
                <a:schemeClr val="dk1"/>
              </a:solidFill>
            </a:endParaRPr>
          </a:p>
        </p:txBody>
      </p:sp>
      <p:sp>
        <p:nvSpPr>
          <p:cNvPr id="154" name="Google Shape;154;g2524d66b2ad_0_10"/>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155" name="Google Shape;155;g2524d66b2ad_0_1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57" name="Google Shape;157;g2524d66b2ad_0_1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59" name="Google Shape;159;g2524d66b2ad_0_1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3" name="Imagen 2">
            <a:extLst>
              <a:ext uri="{FF2B5EF4-FFF2-40B4-BE49-F238E27FC236}">
                <a16:creationId xmlns:a16="http://schemas.microsoft.com/office/drawing/2014/main" id="{4D49BDF1-03C0-4180-BC36-278881F30B0B}"/>
              </a:ext>
            </a:extLst>
          </p:cNvPr>
          <p:cNvPicPr>
            <a:picLocks noChangeAspect="1"/>
          </p:cNvPicPr>
          <p:nvPr/>
        </p:nvPicPr>
        <p:blipFill>
          <a:blip r:embed="rId3"/>
          <a:stretch>
            <a:fillRect/>
          </a:stretch>
        </p:blipFill>
        <p:spPr>
          <a:xfrm>
            <a:off x="340450" y="2766737"/>
            <a:ext cx="4611120" cy="2585966"/>
          </a:xfrm>
          <a:prstGeom prst="rect">
            <a:avLst/>
          </a:prstGeom>
          <a:ln w="127000" cap="sq">
            <a:solidFill>
              <a:srgbClr val="000000"/>
            </a:solidFill>
            <a:miter lim="800000"/>
          </a:ln>
          <a:effectLst>
            <a:outerShdw blurRad="57150" dist="50800" dir="2700000" algn="tl" rotWithShape="0">
              <a:srgbClr val="000000">
                <a:alpha val="40000"/>
              </a:srgbClr>
            </a:outerShdw>
          </a:effectLst>
        </p:spPr>
      </p:pic>
      <p:pic>
        <p:nvPicPr>
          <p:cNvPr id="6" name="Imagen 5">
            <a:extLst>
              <a:ext uri="{FF2B5EF4-FFF2-40B4-BE49-F238E27FC236}">
                <a16:creationId xmlns:a16="http://schemas.microsoft.com/office/drawing/2014/main" id="{4ECE68A1-CE85-47DE-99AE-A1CB8B574FF6}"/>
              </a:ext>
            </a:extLst>
          </p:cNvPr>
          <p:cNvPicPr>
            <a:picLocks noChangeAspect="1"/>
          </p:cNvPicPr>
          <p:nvPr/>
        </p:nvPicPr>
        <p:blipFill>
          <a:blip r:embed="rId4"/>
          <a:stretch>
            <a:fillRect/>
          </a:stretch>
        </p:blipFill>
        <p:spPr>
          <a:xfrm>
            <a:off x="5260019" y="4273997"/>
            <a:ext cx="3857348" cy="2157412"/>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g1ddeedea7d3_1_27"/>
          <p:cNvSpPr txBox="1">
            <a:spLocks noGrp="1"/>
          </p:cNvSpPr>
          <p:nvPr>
            <p:ph type="body" idx="1"/>
          </p:nvPr>
        </p:nvSpPr>
        <p:spPr>
          <a:xfrm>
            <a:off x="581200" y="2180500"/>
            <a:ext cx="1847675" cy="4400100"/>
          </a:xfrm>
          <a:prstGeom prst="rect">
            <a:avLst/>
          </a:prstGeom>
          <a:noFill/>
          <a:ln>
            <a:noFill/>
          </a:ln>
        </p:spPr>
        <p:txBody>
          <a:bodyPr spcFirstLastPara="1" wrap="square" lIns="91425" tIns="45700" rIns="91425" bIns="45700" anchor="ctr" anchorCtr="0">
            <a:normAutofit fontScale="77500" lnSpcReduction="20000"/>
          </a:bodyPr>
          <a:lstStyle/>
          <a:p>
            <a:pPr marL="0" indent="0" algn="just">
              <a:spcBef>
                <a:spcPts val="600"/>
              </a:spcBef>
            </a:pPr>
            <a:r>
              <a:rPr lang="es-ES" dirty="0">
                <a:solidFill>
                  <a:srgbClr val="000000"/>
                </a:solidFill>
                <a:latin typeface="Calibri"/>
                <a:ea typeface="Calibri"/>
                <a:cs typeface="Calibri"/>
                <a:sym typeface="Calibri"/>
              </a:rPr>
              <a:t>RDS: </a:t>
            </a:r>
            <a:r>
              <a:rPr lang="es-ES" dirty="0"/>
              <a:t>Es un servicio que abstrae la complejidad operativa, automatizando el aprovisionamiento, la escalabilidad y los respaldos para diversos motores de bases de datos tradicionales (MySQL, PostgreSQL, Oracle, etc.).</a:t>
            </a:r>
          </a:p>
          <a:p>
            <a:pPr marL="0" indent="0" algn="just">
              <a:spcBef>
                <a:spcPts val="600"/>
              </a:spcBef>
            </a:pPr>
            <a:r>
              <a:rPr lang="es-ES" dirty="0">
                <a:latin typeface="Calibri"/>
                <a:ea typeface="Calibri"/>
                <a:cs typeface="Calibri"/>
                <a:sym typeface="Calibri"/>
              </a:rPr>
              <a:t>Aurora: </a:t>
            </a:r>
            <a:r>
              <a:rPr lang="es-ES" dirty="0"/>
              <a:t>s un motor de base de datos propietario de AWS, de grado empresarial y compatible con MySQL y PostgreSQL, diseñado de forma exclusiva para operar dentro del entorno de RDS.</a:t>
            </a:r>
            <a:endParaRPr lang="es-ES" dirty="0">
              <a:latin typeface="Calibri"/>
              <a:ea typeface="Calibri"/>
              <a:cs typeface="Calibri"/>
              <a:sym typeface="Calibri"/>
            </a:endParaRPr>
          </a:p>
          <a:p>
            <a:pPr marL="306000" lvl="0" indent="0" algn="just" rtl="0">
              <a:lnSpc>
                <a:spcPct val="115000"/>
              </a:lnSpc>
              <a:spcBef>
                <a:spcPts val="1200"/>
              </a:spcBef>
              <a:spcAft>
                <a:spcPts val="1200"/>
              </a:spcAft>
              <a:buSzPts val="1656"/>
              <a:buNone/>
            </a:pPr>
            <a:endParaRPr dirty="0">
              <a:solidFill>
                <a:schemeClr val="dk1"/>
              </a:solidFill>
            </a:endParaRPr>
          </a:p>
        </p:txBody>
      </p:sp>
      <p:sp>
        <p:nvSpPr>
          <p:cNvPr id="339" name="Google Shape;339;g1ddeedea7d3_1_27"/>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340" name="Google Shape;340;g1ddeedea7d3_1_2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41" name="Google Shape;341;g1ddeedea7d3_1_27"/>
          <p:cNvSpPr txBox="1">
            <a:spLocks noGrp="1"/>
          </p:cNvSpPr>
          <p:nvPr>
            <p:ph type="title"/>
          </p:nvPr>
        </p:nvSpPr>
        <p:spPr>
          <a:xfrm>
            <a:off x="436813" y="605903"/>
            <a:ext cx="10920998"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2.2 RDS Y AURORA</a:t>
            </a:r>
            <a:endParaRPr dirty="0"/>
          </a:p>
        </p:txBody>
      </p:sp>
      <p:sp>
        <p:nvSpPr>
          <p:cNvPr id="342" name="Google Shape;342;g1ddeedea7d3_1_2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44" name="Google Shape;344;g1ddeedea7d3_1_2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9" name="Imagen 8">
            <a:extLst>
              <a:ext uri="{FF2B5EF4-FFF2-40B4-BE49-F238E27FC236}">
                <a16:creationId xmlns:a16="http://schemas.microsoft.com/office/drawing/2014/main" id="{D8896213-B909-4275-949E-C829CCA102C3}"/>
              </a:ext>
            </a:extLst>
          </p:cNvPr>
          <p:cNvPicPr/>
          <p:nvPr/>
        </p:nvPicPr>
        <p:blipFill>
          <a:blip r:embed="rId3"/>
          <a:stretch>
            <a:fillRect/>
          </a:stretch>
        </p:blipFill>
        <p:spPr>
          <a:xfrm>
            <a:off x="2693343" y="2447617"/>
            <a:ext cx="6159556" cy="329661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g2524d66b2ad_0_260"/>
          <p:cNvSpPr txBox="1">
            <a:spLocks noGrp="1"/>
          </p:cNvSpPr>
          <p:nvPr>
            <p:ph type="body" idx="1"/>
          </p:nvPr>
        </p:nvSpPr>
        <p:spPr>
          <a:xfrm>
            <a:off x="393454" y="2027310"/>
            <a:ext cx="1611192" cy="4400100"/>
          </a:xfrm>
          <a:prstGeom prst="rect">
            <a:avLst/>
          </a:prstGeom>
          <a:noFill/>
          <a:ln>
            <a:noFill/>
          </a:ln>
        </p:spPr>
        <p:txBody>
          <a:bodyPr spcFirstLastPara="1" wrap="square" lIns="91425" tIns="45700" rIns="91425" bIns="45700" anchor="ctr" anchorCtr="0">
            <a:normAutofit/>
          </a:bodyPr>
          <a:lstStyle/>
          <a:p>
            <a:pPr marL="0" indent="0">
              <a:lnSpc>
                <a:spcPct val="115000"/>
              </a:lnSpc>
              <a:spcBef>
                <a:spcPts val="500"/>
              </a:spcBef>
              <a:buNone/>
            </a:pPr>
            <a:r>
              <a:rPr lang="es-ES" dirty="0">
                <a:latin typeface="Times New Roman"/>
                <a:ea typeface="Calibri"/>
                <a:cs typeface="Times New Roman"/>
                <a:sym typeface="Times New Roman"/>
              </a:rPr>
              <a:t>Se selecciona el motor de base de datos a usar</a:t>
            </a:r>
            <a:endParaRPr lang="es-ES" dirty="0">
              <a:latin typeface="Times New Roman"/>
              <a:ea typeface="Calibri"/>
              <a:cs typeface="Times New Roman"/>
            </a:endParaRPr>
          </a:p>
          <a:p>
            <a:pPr marL="306000" lvl="0" indent="0" algn="just" rtl="0">
              <a:lnSpc>
                <a:spcPct val="115000"/>
              </a:lnSpc>
              <a:spcBef>
                <a:spcPts val="1200"/>
              </a:spcBef>
              <a:spcAft>
                <a:spcPts val="1200"/>
              </a:spcAft>
              <a:buSzPct val="108235"/>
              <a:buNone/>
            </a:pPr>
            <a:endParaRPr dirty="0">
              <a:solidFill>
                <a:schemeClr val="dk1"/>
              </a:solidFill>
            </a:endParaRPr>
          </a:p>
        </p:txBody>
      </p:sp>
      <p:sp>
        <p:nvSpPr>
          <p:cNvPr id="350" name="Google Shape;350;g2524d66b2ad_0_260"/>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351" name="Google Shape;351;g2524d66b2ad_0_26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52" name="Google Shape;352;g2524d66b2ad_0_26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55" name="Google Shape;355;g2524d66b2ad_0_26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8" name="Google Shape;341;g1ddeedea7d3_1_27">
            <a:extLst>
              <a:ext uri="{FF2B5EF4-FFF2-40B4-BE49-F238E27FC236}">
                <a16:creationId xmlns:a16="http://schemas.microsoft.com/office/drawing/2014/main" id="{D6E8EA7C-D3D4-4E96-A304-31AD24E66463}"/>
              </a:ext>
            </a:extLst>
          </p:cNvPr>
          <p:cNvSpPr txBox="1">
            <a:spLocks noGrp="1"/>
          </p:cNvSpPr>
          <p:nvPr>
            <p:ph type="title"/>
          </p:nvPr>
        </p:nvSpPr>
        <p:spPr>
          <a:xfrm>
            <a:off x="436813" y="605903"/>
            <a:ext cx="10920998"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2.2 CREACIÓN DE LA BASE DE DATOS</a:t>
            </a:r>
            <a:endParaRPr dirty="0"/>
          </a:p>
        </p:txBody>
      </p:sp>
      <p:pic>
        <p:nvPicPr>
          <p:cNvPr id="4" name="Imagen 3">
            <a:extLst>
              <a:ext uri="{FF2B5EF4-FFF2-40B4-BE49-F238E27FC236}">
                <a16:creationId xmlns:a16="http://schemas.microsoft.com/office/drawing/2014/main" id="{ABF4D971-8C40-43B4-A6BE-DAF88A141B44}"/>
              </a:ext>
            </a:extLst>
          </p:cNvPr>
          <p:cNvPicPr>
            <a:picLocks noChangeAspect="1"/>
          </p:cNvPicPr>
          <p:nvPr/>
        </p:nvPicPr>
        <p:blipFill>
          <a:blip r:embed="rId3"/>
          <a:stretch>
            <a:fillRect/>
          </a:stretch>
        </p:blipFill>
        <p:spPr>
          <a:xfrm>
            <a:off x="2004646" y="2421386"/>
            <a:ext cx="6860102" cy="361194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g2524d66b2ad_0_275"/>
          <p:cNvSpPr txBox="1">
            <a:spLocks noGrp="1"/>
          </p:cNvSpPr>
          <p:nvPr>
            <p:ph type="body" idx="1"/>
          </p:nvPr>
        </p:nvSpPr>
        <p:spPr>
          <a:xfrm>
            <a:off x="612840" y="2603043"/>
            <a:ext cx="1204237" cy="3702930"/>
          </a:xfrm>
          <a:prstGeom prst="rect">
            <a:avLst/>
          </a:prstGeom>
          <a:noFill/>
          <a:ln>
            <a:noFill/>
          </a:ln>
        </p:spPr>
        <p:txBody>
          <a:bodyPr spcFirstLastPara="1" wrap="square" lIns="91425" tIns="45700" rIns="91425" bIns="45700" anchor="ctr" anchorCtr="0">
            <a:normAutofit fontScale="70000" lnSpcReduction="20000"/>
          </a:bodyPr>
          <a:lstStyle/>
          <a:p>
            <a:pPr marL="15775" lvl="0" indent="0" algn="l" rtl="0">
              <a:lnSpc>
                <a:spcPct val="115000"/>
              </a:lnSpc>
              <a:spcBef>
                <a:spcPts val="1200"/>
              </a:spcBef>
              <a:spcAft>
                <a:spcPts val="0"/>
              </a:spcAft>
              <a:buClr>
                <a:schemeClr val="dk1"/>
              </a:buClr>
              <a:buSzPct val="91998"/>
              <a:buNone/>
            </a:pPr>
            <a:r>
              <a:rPr lang="es-EC" dirty="0">
                <a:solidFill>
                  <a:schemeClr val="dk1"/>
                </a:solidFill>
              </a:rPr>
              <a:t>Dado que se va a usar la capa gratuita en conjunto con los créditos gratis que nos brinda este proveedor se escoge la opción de Free </a:t>
            </a:r>
            <a:r>
              <a:rPr lang="es-EC" dirty="0" err="1">
                <a:solidFill>
                  <a:schemeClr val="dk1"/>
                </a:solidFill>
              </a:rPr>
              <a:t>Tier</a:t>
            </a:r>
            <a:r>
              <a:rPr lang="es-EC" dirty="0">
                <a:solidFill>
                  <a:schemeClr val="dk1"/>
                </a:solidFill>
              </a:rPr>
              <a:t> y Easy </a:t>
            </a:r>
            <a:r>
              <a:rPr lang="es-EC" dirty="0" err="1">
                <a:solidFill>
                  <a:schemeClr val="dk1"/>
                </a:solidFill>
              </a:rPr>
              <a:t>Create</a:t>
            </a:r>
            <a:r>
              <a:rPr lang="es-EC" dirty="0">
                <a:solidFill>
                  <a:schemeClr val="dk1"/>
                </a:solidFill>
              </a:rPr>
              <a:t> para una creación más rápida de la base de datos</a:t>
            </a:r>
            <a:endParaRPr dirty="0">
              <a:solidFill>
                <a:schemeClr val="dk1"/>
              </a:solidFill>
            </a:endParaRPr>
          </a:p>
          <a:p>
            <a:pPr marL="306000" lvl="0" indent="0" algn="just" rtl="0">
              <a:lnSpc>
                <a:spcPct val="115000"/>
              </a:lnSpc>
              <a:spcBef>
                <a:spcPts val="1200"/>
              </a:spcBef>
              <a:spcAft>
                <a:spcPts val="1200"/>
              </a:spcAft>
              <a:buSzPct val="108235"/>
              <a:buNone/>
            </a:pPr>
            <a:endParaRPr dirty="0">
              <a:solidFill>
                <a:schemeClr val="dk1"/>
              </a:solidFill>
            </a:endParaRPr>
          </a:p>
        </p:txBody>
      </p:sp>
      <p:sp>
        <p:nvSpPr>
          <p:cNvPr id="361" name="Google Shape;361;g2524d66b2ad_0_27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362" name="Google Shape;362;g2524d66b2ad_0_27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63" name="Google Shape;363;g2524d66b2ad_0_27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66" name="Google Shape;366;g2524d66b2ad_0_27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8" name="Imagen 7">
            <a:extLst>
              <a:ext uri="{FF2B5EF4-FFF2-40B4-BE49-F238E27FC236}">
                <a16:creationId xmlns:a16="http://schemas.microsoft.com/office/drawing/2014/main" id="{66683038-1F70-4C9B-92B7-E0FCF3500069}"/>
              </a:ext>
            </a:extLst>
          </p:cNvPr>
          <p:cNvPicPr/>
          <p:nvPr/>
        </p:nvPicPr>
        <p:blipFill>
          <a:blip r:embed="rId3"/>
          <a:stretch>
            <a:fillRect/>
          </a:stretch>
        </p:blipFill>
        <p:spPr>
          <a:xfrm>
            <a:off x="2067242" y="2674479"/>
            <a:ext cx="6733858" cy="3702929"/>
          </a:xfrm>
          <a:prstGeom prst="rect">
            <a:avLst/>
          </a:prstGeom>
        </p:spPr>
      </p:pic>
      <p:sp>
        <p:nvSpPr>
          <p:cNvPr id="9" name="Google Shape;341;g1ddeedea7d3_1_27">
            <a:extLst>
              <a:ext uri="{FF2B5EF4-FFF2-40B4-BE49-F238E27FC236}">
                <a16:creationId xmlns:a16="http://schemas.microsoft.com/office/drawing/2014/main" id="{8F126ACA-FFE3-4876-BE64-E55FD71F5517}"/>
              </a:ext>
            </a:extLst>
          </p:cNvPr>
          <p:cNvSpPr txBox="1">
            <a:spLocks noGrp="1"/>
          </p:cNvSpPr>
          <p:nvPr>
            <p:ph type="title"/>
          </p:nvPr>
        </p:nvSpPr>
        <p:spPr>
          <a:xfrm>
            <a:off x="436813" y="605903"/>
            <a:ext cx="10920998"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2.2 MODO DE CREACIÓN DE LA BASE DE DATOS</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1" name="Google Shape;361;g2524d66b2ad_0_27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362" name="Google Shape;362;g2524d66b2ad_0_27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63" name="Google Shape;363;g2524d66b2ad_0_27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66" name="Google Shape;366;g2524d66b2ad_0_27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9" name="Google Shape;341;g1ddeedea7d3_1_27">
            <a:extLst>
              <a:ext uri="{FF2B5EF4-FFF2-40B4-BE49-F238E27FC236}">
                <a16:creationId xmlns:a16="http://schemas.microsoft.com/office/drawing/2014/main" id="{8F126ACA-FFE3-4876-BE64-E55FD71F5517}"/>
              </a:ext>
            </a:extLst>
          </p:cNvPr>
          <p:cNvSpPr txBox="1">
            <a:spLocks noGrp="1"/>
          </p:cNvSpPr>
          <p:nvPr>
            <p:ph type="title"/>
          </p:nvPr>
        </p:nvSpPr>
        <p:spPr>
          <a:xfrm>
            <a:off x="436813" y="605903"/>
            <a:ext cx="10920998"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2.2 Configuración de Ajustes y Seguridad</a:t>
            </a:r>
            <a:endParaRPr dirty="0"/>
          </a:p>
        </p:txBody>
      </p:sp>
      <p:pic>
        <p:nvPicPr>
          <p:cNvPr id="10" name="Imagen 9">
            <a:extLst>
              <a:ext uri="{FF2B5EF4-FFF2-40B4-BE49-F238E27FC236}">
                <a16:creationId xmlns:a16="http://schemas.microsoft.com/office/drawing/2014/main" id="{0FCECC0C-25D8-451D-967B-386FFDC6C297}"/>
              </a:ext>
            </a:extLst>
          </p:cNvPr>
          <p:cNvPicPr/>
          <p:nvPr/>
        </p:nvPicPr>
        <p:blipFill>
          <a:blip r:embed="rId3"/>
          <a:stretch>
            <a:fillRect/>
          </a:stretch>
        </p:blipFill>
        <p:spPr>
          <a:xfrm>
            <a:off x="2443163" y="2247899"/>
            <a:ext cx="6576695" cy="4004197"/>
          </a:xfrm>
          <a:prstGeom prst="rect">
            <a:avLst/>
          </a:prstGeom>
        </p:spPr>
      </p:pic>
      <p:sp>
        <p:nvSpPr>
          <p:cNvPr id="5" name="Rectangle 4">
            <a:extLst>
              <a:ext uri="{FF2B5EF4-FFF2-40B4-BE49-F238E27FC236}">
                <a16:creationId xmlns:a16="http://schemas.microsoft.com/office/drawing/2014/main" id="{6946E283-DB81-4994-8F7A-DCB1F8638869}"/>
              </a:ext>
            </a:extLst>
          </p:cNvPr>
          <p:cNvSpPr>
            <a:spLocks noChangeArrowheads="1"/>
          </p:cNvSpPr>
          <p:nvPr/>
        </p:nvSpPr>
        <p:spPr bwMode="auto">
          <a:xfrm>
            <a:off x="249824" y="2372561"/>
            <a:ext cx="2193339"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s-EC" altLang="es-EC" dirty="0"/>
              <a:t>Identificación de la Instancia: Definición de un nombre único (DB </a:t>
            </a:r>
            <a:r>
              <a:rPr lang="es-EC" altLang="es-EC" dirty="0" err="1"/>
              <a:t>instance</a:t>
            </a:r>
            <a:r>
              <a:rPr lang="es-EC" altLang="es-EC" dirty="0"/>
              <a:t> </a:t>
            </a:r>
            <a:r>
              <a:rPr lang="es-EC" altLang="es-EC" dirty="0" err="1"/>
              <a:t>identifier</a:t>
            </a:r>
            <a:r>
              <a:rPr lang="es-EC" altLang="es-EC" dirty="0"/>
              <a:t>) para el recurso, permitiendo su reconocimiento y gestión dentro de la infraestructura de AWS.</a:t>
            </a:r>
          </a:p>
          <a:p>
            <a:pPr marL="0" marR="0" lvl="0" indent="0" algn="l" defTabSz="914400" rtl="0" eaLnBrk="0" fontAlgn="base" latinLnBrk="0" hangingPunct="0">
              <a:lnSpc>
                <a:spcPct val="100000"/>
              </a:lnSpc>
              <a:spcBef>
                <a:spcPct val="0"/>
              </a:spcBef>
              <a:spcAft>
                <a:spcPct val="0"/>
              </a:spcAft>
              <a:buClrTx/>
              <a:buSzTx/>
              <a:buFontTx/>
              <a:buChar char="•"/>
              <a:tabLst/>
            </a:pPr>
            <a:r>
              <a:rPr lang="es-EC" altLang="es-EC" dirty="0"/>
              <a:t>Gestión de Credenciales Maestras: Configuración del usuario administrador (</a:t>
            </a:r>
            <a:r>
              <a:rPr lang="es-EC" altLang="es-EC" dirty="0" err="1"/>
              <a:t>admin</a:t>
            </a:r>
            <a:r>
              <a:rPr lang="es-EC" altLang="es-EC" dirty="0"/>
              <a:t>) bajo un modelo de gestión manual (</a:t>
            </a:r>
            <a:r>
              <a:rPr lang="es-EC" altLang="es-EC" dirty="0" err="1"/>
              <a:t>Self-managed</a:t>
            </a:r>
            <a:r>
              <a:rPr lang="es-EC" altLang="es-EC" dirty="0"/>
              <a:t>), donde el usuario define y custodia la contraseña de acceso de forma directa.</a:t>
            </a:r>
          </a:p>
        </p:txBody>
      </p:sp>
      <p:sp>
        <p:nvSpPr>
          <p:cNvPr id="7" name="Marcador de texto 6">
            <a:extLst>
              <a:ext uri="{FF2B5EF4-FFF2-40B4-BE49-F238E27FC236}">
                <a16:creationId xmlns:a16="http://schemas.microsoft.com/office/drawing/2014/main" id="{126715C9-9C14-45E3-B5B5-8186EEBEAD98}"/>
              </a:ext>
            </a:extLst>
          </p:cNvPr>
          <p:cNvSpPr>
            <a:spLocks noGrp="1"/>
          </p:cNvSpPr>
          <p:nvPr>
            <p:ph type="body" idx="1"/>
          </p:nvPr>
        </p:nvSpPr>
        <p:spPr>
          <a:xfrm>
            <a:off x="2443163" y="2180496"/>
            <a:ext cx="9167644" cy="3678303"/>
          </a:xfrm>
        </p:spPr>
        <p:txBody>
          <a:bodyPr/>
          <a:lstStyle/>
          <a:p>
            <a:endParaRPr lang="es-EC" dirty="0"/>
          </a:p>
        </p:txBody>
      </p:sp>
    </p:spTree>
    <p:extLst>
      <p:ext uri="{BB962C8B-B14F-4D97-AF65-F5344CB8AC3E}">
        <p14:creationId xmlns:p14="http://schemas.microsoft.com/office/powerpoint/2010/main" val="1839988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1" name="Google Shape;361;g2524d66b2ad_0_27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362" name="Google Shape;362;g2524d66b2ad_0_27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63" name="Google Shape;363;g2524d66b2ad_0_27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66" name="Google Shape;366;g2524d66b2ad_0_27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9" name="Google Shape;341;g1ddeedea7d3_1_27">
            <a:extLst>
              <a:ext uri="{FF2B5EF4-FFF2-40B4-BE49-F238E27FC236}">
                <a16:creationId xmlns:a16="http://schemas.microsoft.com/office/drawing/2014/main" id="{8F126ACA-FFE3-4876-BE64-E55FD71F5517}"/>
              </a:ext>
            </a:extLst>
          </p:cNvPr>
          <p:cNvSpPr txBox="1">
            <a:spLocks noGrp="1"/>
          </p:cNvSpPr>
          <p:nvPr>
            <p:ph type="title"/>
          </p:nvPr>
        </p:nvSpPr>
        <p:spPr>
          <a:xfrm>
            <a:off x="436813" y="605903"/>
            <a:ext cx="10920998"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2.2 </a:t>
            </a:r>
            <a:r>
              <a:rPr lang="es-EC" dirty="0"/>
              <a:t>Operaciones y Mantenimiento</a:t>
            </a:r>
            <a:endParaRPr dirty="0"/>
          </a:p>
        </p:txBody>
      </p:sp>
      <p:sp>
        <p:nvSpPr>
          <p:cNvPr id="7" name="Marcador de texto 6">
            <a:extLst>
              <a:ext uri="{FF2B5EF4-FFF2-40B4-BE49-F238E27FC236}">
                <a16:creationId xmlns:a16="http://schemas.microsoft.com/office/drawing/2014/main" id="{126715C9-9C14-45E3-B5B5-8186EEBEAD98}"/>
              </a:ext>
            </a:extLst>
          </p:cNvPr>
          <p:cNvSpPr>
            <a:spLocks noGrp="1"/>
          </p:cNvSpPr>
          <p:nvPr>
            <p:ph type="body" idx="1"/>
          </p:nvPr>
        </p:nvSpPr>
        <p:spPr>
          <a:xfrm>
            <a:off x="2443163" y="2180496"/>
            <a:ext cx="9167644" cy="3678303"/>
          </a:xfrm>
        </p:spPr>
        <p:txBody>
          <a:bodyPr/>
          <a:lstStyle/>
          <a:p>
            <a:endParaRPr lang="es-EC" dirty="0"/>
          </a:p>
        </p:txBody>
      </p:sp>
      <p:sp>
        <p:nvSpPr>
          <p:cNvPr id="13" name="CuadroTexto 12">
            <a:extLst>
              <a:ext uri="{FF2B5EF4-FFF2-40B4-BE49-F238E27FC236}">
                <a16:creationId xmlns:a16="http://schemas.microsoft.com/office/drawing/2014/main" id="{D1A6C7F9-9F99-4D4E-AF42-140F69E73A49}"/>
              </a:ext>
            </a:extLst>
          </p:cNvPr>
          <p:cNvSpPr txBox="1"/>
          <p:nvPr/>
        </p:nvSpPr>
        <p:spPr>
          <a:xfrm>
            <a:off x="164306" y="2272367"/>
            <a:ext cx="2135982" cy="3754874"/>
          </a:xfrm>
          <a:prstGeom prst="rect">
            <a:avLst/>
          </a:prstGeom>
          <a:noFill/>
        </p:spPr>
        <p:txBody>
          <a:bodyPr wrap="square">
            <a:spAutoFit/>
          </a:bodyPr>
          <a:lstStyle/>
          <a:p>
            <a:r>
              <a:rPr lang="es-ES" dirty="0"/>
              <a:t>Respaldo Automatizado: Activación por defecto de las copias de seguridad automáticas (</a:t>
            </a:r>
            <a:r>
              <a:rPr lang="es-ES" dirty="0" err="1"/>
              <a:t>Automatic</a:t>
            </a:r>
            <a:r>
              <a:rPr lang="es-ES" dirty="0"/>
              <a:t> </a:t>
            </a:r>
            <a:r>
              <a:rPr lang="es-ES" dirty="0" err="1"/>
              <a:t>backups</a:t>
            </a:r>
            <a:r>
              <a:rPr lang="es-ES" dirty="0"/>
              <a:t>) para garantizar la recuperación de </a:t>
            </a:r>
            <a:r>
              <a:rPr lang="es-ES" dirty="0" err="1"/>
              <a:t>datos.Mantenimiento</a:t>
            </a:r>
            <a:r>
              <a:rPr lang="es-ES" dirty="0"/>
              <a:t> Continuo: Habilitación de actualizaciones automáticas para versiones menores del motor (Auto </a:t>
            </a:r>
            <a:r>
              <a:rPr lang="es-ES" dirty="0" err="1"/>
              <a:t>minor</a:t>
            </a:r>
            <a:r>
              <a:rPr lang="es-ES" dirty="0"/>
              <a:t> </a:t>
            </a:r>
            <a:r>
              <a:rPr lang="es-ES" dirty="0" err="1"/>
              <a:t>version</a:t>
            </a:r>
            <a:r>
              <a:rPr lang="es-ES" dirty="0"/>
              <a:t> </a:t>
            </a:r>
            <a:r>
              <a:rPr lang="es-ES" dirty="0" err="1"/>
              <a:t>upgrade</a:t>
            </a:r>
            <a:r>
              <a:rPr lang="es-ES" dirty="0"/>
              <a:t>), asegurando la aplicación oportuna de parches de seguridad.</a:t>
            </a:r>
            <a:endParaRPr lang="es-EC" dirty="0"/>
          </a:p>
        </p:txBody>
      </p:sp>
      <p:pic>
        <p:nvPicPr>
          <p:cNvPr id="14" name="Imagen 13">
            <a:extLst>
              <a:ext uri="{FF2B5EF4-FFF2-40B4-BE49-F238E27FC236}">
                <a16:creationId xmlns:a16="http://schemas.microsoft.com/office/drawing/2014/main" id="{F4497B23-5AD7-4B94-AB07-BDEFA3306C12}"/>
              </a:ext>
            </a:extLst>
          </p:cNvPr>
          <p:cNvPicPr/>
          <p:nvPr/>
        </p:nvPicPr>
        <p:blipFill>
          <a:blip r:embed="rId3"/>
          <a:stretch>
            <a:fillRect/>
          </a:stretch>
        </p:blipFill>
        <p:spPr>
          <a:xfrm>
            <a:off x="2838767" y="2139781"/>
            <a:ext cx="5400040" cy="1978025"/>
          </a:xfrm>
          <a:prstGeom prst="rect">
            <a:avLst/>
          </a:prstGeom>
        </p:spPr>
      </p:pic>
      <p:pic>
        <p:nvPicPr>
          <p:cNvPr id="15" name="Imagen 14">
            <a:extLst>
              <a:ext uri="{FF2B5EF4-FFF2-40B4-BE49-F238E27FC236}">
                <a16:creationId xmlns:a16="http://schemas.microsoft.com/office/drawing/2014/main" id="{A656178F-4F2D-4B1F-9890-20B270B6BD83}"/>
              </a:ext>
            </a:extLst>
          </p:cNvPr>
          <p:cNvPicPr/>
          <p:nvPr/>
        </p:nvPicPr>
        <p:blipFill>
          <a:blip r:embed="rId4"/>
          <a:stretch>
            <a:fillRect/>
          </a:stretch>
        </p:blipFill>
        <p:spPr>
          <a:xfrm>
            <a:off x="2838767" y="4258400"/>
            <a:ext cx="5400040" cy="2512060"/>
          </a:xfrm>
          <a:prstGeom prst="rect">
            <a:avLst/>
          </a:prstGeom>
        </p:spPr>
      </p:pic>
    </p:spTree>
    <p:extLst>
      <p:ext uri="{BB962C8B-B14F-4D97-AF65-F5344CB8AC3E}">
        <p14:creationId xmlns:p14="http://schemas.microsoft.com/office/powerpoint/2010/main" val="19799773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5" name="Google Shape;405;g2524d66b2ad_0_33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406" name="Google Shape;406;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07" name="Google Shape;407;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10" name="Google Shape;410;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8" name="Google Shape;341;g1ddeedea7d3_1_27">
            <a:extLst>
              <a:ext uri="{FF2B5EF4-FFF2-40B4-BE49-F238E27FC236}">
                <a16:creationId xmlns:a16="http://schemas.microsoft.com/office/drawing/2014/main" id="{A7CC2A06-CC8C-44D8-BE0D-D836BBF459DB}"/>
              </a:ext>
            </a:extLst>
          </p:cNvPr>
          <p:cNvSpPr txBox="1">
            <a:spLocks noGrp="1"/>
          </p:cNvSpPr>
          <p:nvPr>
            <p:ph type="title"/>
          </p:nvPr>
        </p:nvSpPr>
        <p:spPr>
          <a:xfrm>
            <a:off x="436813" y="605903"/>
            <a:ext cx="10920998"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2.2 Configuración de Reglas de Entrada (</a:t>
            </a:r>
            <a:r>
              <a:rPr lang="es-ES" dirty="0" err="1"/>
              <a:t>Inbound</a:t>
            </a:r>
            <a:r>
              <a:rPr lang="es-ES" dirty="0"/>
              <a:t> Rules)</a:t>
            </a:r>
            <a:endParaRPr dirty="0"/>
          </a:p>
        </p:txBody>
      </p:sp>
      <p:sp>
        <p:nvSpPr>
          <p:cNvPr id="3" name="Marcador de texto 2">
            <a:extLst>
              <a:ext uri="{FF2B5EF4-FFF2-40B4-BE49-F238E27FC236}">
                <a16:creationId xmlns:a16="http://schemas.microsoft.com/office/drawing/2014/main" id="{035CB51D-1A86-49CB-8972-0536E09BA041}"/>
              </a:ext>
            </a:extLst>
          </p:cNvPr>
          <p:cNvSpPr>
            <a:spLocks noGrp="1"/>
          </p:cNvSpPr>
          <p:nvPr>
            <p:ph type="body" idx="1"/>
          </p:nvPr>
        </p:nvSpPr>
        <p:spPr>
          <a:xfrm>
            <a:off x="9117367" y="2180496"/>
            <a:ext cx="2493440" cy="3678303"/>
          </a:xfrm>
        </p:spPr>
        <p:txBody>
          <a:bodyPr/>
          <a:lstStyle/>
          <a:p>
            <a:endParaRPr lang="es-EC" dirty="0"/>
          </a:p>
        </p:txBody>
      </p:sp>
      <p:sp>
        <p:nvSpPr>
          <p:cNvPr id="13" name="CuadroTexto 12">
            <a:extLst>
              <a:ext uri="{FF2B5EF4-FFF2-40B4-BE49-F238E27FC236}">
                <a16:creationId xmlns:a16="http://schemas.microsoft.com/office/drawing/2014/main" id="{FE009427-8D4F-46BB-A8FF-BB0C6E72B0DC}"/>
              </a:ext>
            </a:extLst>
          </p:cNvPr>
          <p:cNvSpPr txBox="1"/>
          <p:nvPr/>
        </p:nvSpPr>
        <p:spPr>
          <a:xfrm>
            <a:off x="152840" y="2573097"/>
            <a:ext cx="2921794" cy="2893100"/>
          </a:xfrm>
          <a:prstGeom prst="rect">
            <a:avLst/>
          </a:prstGeom>
          <a:noFill/>
        </p:spPr>
        <p:txBody>
          <a:bodyPr wrap="square">
            <a:spAutoFit/>
          </a:bodyPr>
          <a:lstStyle/>
          <a:p>
            <a:r>
              <a:rPr lang="es-ES" dirty="0"/>
              <a:t>Apertura de Puertos: Habilitación del tráfico a través del puerto 3306 (MySQL/Aurora) para permitir la comunicación externa con el motor de la base de </a:t>
            </a:r>
            <a:r>
              <a:rPr lang="es-ES" dirty="0" err="1"/>
              <a:t>datos.Restricción</a:t>
            </a:r>
            <a:r>
              <a:rPr lang="es-ES" dirty="0"/>
              <a:t> de Acceso: Identificación de riesgos por el uso de fuentes abiertas (0.0.0.0/0), señalando la importancia de limitar el acceso únicamente a direcciones IP conocidas o recursos internos para reducir la superficie de ataque.</a:t>
            </a:r>
            <a:endParaRPr lang="es-EC" dirty="0"/>
          </a:p>
        </p:txBody>
      </p:sp>
      <p:pic>
        <p:nvPicPr>
          <p:cNvPr id="14" name="Imagen 13">
            <a:extLst>
              <a:ext uri="{FF2B5EF4-FFF2-40B4-BE49-F238E27FC236}">
                <a16:creationId xmlns:a16="http://schemas.microsoft.com/office/drawing/2014/main" id="{BA3E66E8-FA49-4F18-B91C-75ECA0E3B020}"/>
              </a:ext>
            </a:extLst>
          </p:cNvPr>
          <p:cNvPicPr/>
          <p:nvPr/>
        </p:nvPicPr>
        <p:blipFill>
          <a:blip r:embed="rId3"/>
          <a:stretch>
            <a:fillRect/>
          </a:stretch>
        </p:blipFill>
        <p:spPr>
          <a:xfrm>
            <a:off x="3319621" y="2773460"/>
            <a:ext cx="5552757" cy="269273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5" name="Google Shape;405;g2524d66b2ad_0_33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406" name="Google Shape;406;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07" name="Google Shape;407;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10" name="Google Shape;410;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5" name="Imagen 4">
            <a:extLst>
              <a:ext uri="{FF2B5EF4-FFF2-40B4-BE49-F238E27FC236}">
                <a16:creationId xmlns:a16="http://schemas.microsoft.com/office/drawing/2014/main" id="{C4F34F5B-AFCD-46B0-88D7-E3F2CBF8886F}"/>
              </a:ext>
            </a:extLst>
          </p:cNvPr>
          <p:cNvPicPr>
            <a:picLocks noChangeAspect="1"/>
          </p:cNvPicPr>
          <p:nvPr/>
        </p:nvPicPr>
        <p:blipFill>
          <a:blip r:embed="rId3"/>
          <a:stretch>
            <a:fillRect/>
          </a:stretch>
        </p:blipFill>
        <p:spPr>
          <a:xfrm>
            <a:off x="1090072" y="2686050"/>
            <a:ext cx="7374036" cy="3400886"/>
          </a:xfrm>
          <a:prstGeom prst="rect">
            <a:avLst/>
          </a:prstGeom>
        </p:spPr>
      </p:pic>
      <p:sp>
        <p:nvSpPr>
          <p:cNvPr id="7" name="Marcador de texto 6">
            <a:extLst>
              <a:ext uri="{FF2B5EF4-FFF2-40B4-BE49-F238E27FC236}">
                <a16:creationId xmlns:a16="http://schemas.microsoft.com/office/drawing/2014/main" id="{34078980-CEAE-4596-83F9-E53408BB035A}"/>
              </a:ext>
            </a:extLst>
          </p:cNvPr>
          <p:cNvSpPr>
            <a:spLocks noGrp="1"/>
          </p:cNvSpPr>
          <p:nvPr>
            <p:ph type="body" idx="1"/>
          </p:nvPr>
        </p:nvSpPr>
        <p:spPr>
          <a:xfrm>
            <a:off x="9117367" y="2180496"/>
            <a:ext cx="2493440" cy="3678303"/>
          </a:xfrm>
        </p:spPr>
        <p:txBody>
          <a:bodyPr/>
          <a:lstStyle/>
          <a:p>
            <a:endParaRPr lang="es-EC"/>
          </a:p>
        </p:txBody>
      </p:sp>
      <p:sp>
        <p:nvSpPr>
          <p:cNvPr id="13" name="Google Shape;341;g1ddeedea7d3_1_27">
            <a:extLst>
              <a:ext uri="{FF2B5EF4-FFF2-40B4-BE49-F238E27FC236}">
                <a16:creationId xmlns:a16="http://schemas.microsoft.com/office/drawing/2014/main" id="{C81BC56E-7F8E-4423-A43F-8A0914D9123C}"/>
              </a:ext>
            </a:extLst>
          </p:cNvPr>
          <p:cNvSpPr txBox="1">
            <a:spLocks noGrp="1"/>
          </p:cNvSpPr>
          <p:nvPr>
            <p:ph type="title"/>
          </p:nvPr>
        </p:nvSpPr>
        <p:spPr>
          <a:xfrm>
            <a:off x="436813" y="605903"/>
            <a:ext cx="10920998"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2.2 Puesta en marcha</a:t>
            </a:r>
            <a:endParaRPr dirty="0"/>
          </a:p>
        </p:txBody>
      </p:sp>
    </p:spTree>
    <p:extLst>
      <p:ext uri="{BB962C8B-B14F-4D97-AF65-F5344CB8AC3E}">
        <p14:creationId xmlns:p14="http://schemas.microsoft.com/office/powerpoint/2010/main" val="16641652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5" name="Google Shape;405;g2524d66b2ad_0_33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406" name="Google Shape;406;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07" name="Google Shape;407;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10" name="Google Shape;410;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7" name="Marcador de texto 6">
            <a:extLst>
              <a:ext uri="{FF2B5EF4-FFF2-40B4-BE49-F238E27FC236}">
                <a16:creationId xmlns:a16="http://schemas.microsoft.com/office/drawing/2014/main" id="{34078980-CEAE-4596-83F9-E53408BB035A}"/>
              </a:ext>
            </a:extLst>
          </p:cNvPr>
          <p:cNvSpPr>
            <a:spLocks noGrp="1"/>
          </p:cNvSpPr>
          <p:nvPr>
            <p:ph type="body" idx="1"/>
          </p:nvPr>
        </p:nvSpPr>
        <p:spPr>
          <a:xfrm>
            <a:off x="9117367" y="2180496"/>
            <a:ext cx="2493440" cy="3678303"/>
          </a:xfrm>
        </p:spPr>
        <p:txBody>
          <a:bodyPr/>
          <a:lstStyle/>
          <a:p>
            <a:endParaRPr lang="es-EC"/>
          </a:p>
        </p:txBody>
      </p:sp>
      <p:sp>
        <p:nvSpPr>
          <p:cNvPr id="13" name="Google Shape;341;g1ddeedea7d3_1_27">
            <a:extLst>
              <a:ext uri="{FF2B5EF4-FFF2-40B4-BE49-F238E27FC236}">
                <a16:creationId xmlns:a16="http://schemas.microsoft.com/office/drawing/2014/main" id="{C81BC56E-7F8E-4423-A43F-8A0914D9123C}"/>
              </a:ext>
            </a:extLst>
          </p:cNvPr>
          <p:cNvSpPr txBox="1">
            <a:spLocks noGrp="1"/>
          </p:cNvSpPr>
          <p:nvPr>
            <p:ph type="title"/>
          </p:nvPr>
        </p:nvSpPr>
        <p:spPr>
          <a:xfrm>
            <a:off x="436813" y="605903"/>
            <a:ext cx="10920998"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2.2 Puesta en marcha</a:t>
            </a:r>
            <a:endParaRPr dirty="0"/>
          </a:p>
        </p:txBody>
      </p:sp>
      <p:pic>
        <p:nvPicPr>
          <p:cNvPr id="3" name="Imagen 2">
            <a:extLst>
              <a:ext uri="{FF2B5EF4-FFF2-40B4-BE49-F238E27FC236}">
                <a16:creationId xmlns:a16="http://schemas.microsoft.com/office/drawing/2014/main" id="{AD0F4D9F-F0A0-4F2D-8FCE-B1809A3BDD99}"/>
              </a:ext>
            </a:extLst>
          </p:cNvPr>
          <p:cNvPicPr>
            <a:picLocks noChangeAspect="1"/>
          </p:cNvPicPr>
          <p:nvPr/>
        </p:nvPicPr>
        <p:blipFill>
          <a:blip r:embed="rId3"/>
          <a:stretch>
            <a:fillRect/>
          </a:stretch>
        </p:blipFill>
        <p:spPr>
          <a:xfrm>
            <a:off x="436813" y="2336776"/>
            <a:ext cx="8535591" cy="3915321"/>
          </a:xfrm>
          <a:prstGeom prst="rect">
            <a:avLst/>
          </a:prstGeom>
        </p:spPr>
      </p:pic>
    </p:spTree>
    <p:extLst>
      <p:ext uri="{BB962C8B-B14F-4D97-AF65-F5344CB8AC3E}">
        <p14:creationId xmlns:p14="http://schemas.microsoft.com/office/powerpoint/2010/main" val="38099735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5" name="Google Shape;405;g2524d66b2ad_0_33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406" name="Google Shape;406;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07" name="Google Shape;407;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10" name="Google Shape;410;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7" name="Marcador de texto 6">
            <a:extLst>
              <a:ext uri="{FF2B5EF4-FFF2-40B4-BE49-F238E27FC236}">
                <a16:creationId xmlns:a16="http://schemas.microsoft.com/office/drawing/2014/main" id="{34078980-CEAE-4596-83F9-E53408BB035A}"/>
              </a:ext>
            </a:extLst>
          </p:cNvPr>
          <p:cNvSpPr>
            <a:spLocks noGrp="1"/>
          </p:cNvSpPr>
          <p:nvPr>
            <p:ph type="body" idx="1"/>
          </p:nvPr>
        </p:nvSpPr>
        <p:spPr>
          <a:xfrm>
            <a:off x="9117367" y="2180496"/>
            <a:ext cx="2493440" cy="3678303"/>
          </a:xfrm>
        </p:spPr>
        <p:txBody>
          <a:bodyPr/>
          <a:lstStyle/>
          <a:p>
            <a:endParaRPr lang="es-EC"/>
          </a:p>
        </p:txBody>
      </p:sp>
      <p:sp>
        <p:nvSpPr>
          <p:cNvPr id="13" name="Google Shape;341;g1ddeedea7d3_1_27">
            <a:extLst>
              <a:ext uri="{FF2B5EF4-FFF2-40B4-BE49-F238E27FC236}">
                <a16:creationId xmlns:a16="http://schemas.microsoft.com/office/drawing/2014/main" id="{C81BC56E-7F8E-4423-A43F-8A0914D9123C}"/>
              </a:ext>
            </a:extLst>
          </p:cNvPr>
          <p:cNvSpPr txBox="1">
            <a:spLocks noGrp="1"/>
          </p:cNvSpPr>
          <p:nvPr>
            <p:ph type="title"/>
          </p:nvPr>
        </p:nvSpPr>
        <p:spPr>
          <a:xfrm>
            <a:off x="436813" y="605903"/>
            <a:ext cx="10920998"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2.2 Conexión con la aplicación</a:t>
            </a:r>
            <a:endParaRPr dirty="0"/>
          </a:p>
        </p:txBody>
      </p:sp>
      <p:sp>
        <p:nvSpPr>
          <p:cNvPr id="10" name="CuadroTexto 9">
            <a:extLst>
              <a:ext uri="{FF2B5EF4-FFF2-40B4-BE49-F238E27FC236}">
                <a16:creationId xmlns:a16="http://schemas.microsoft.com/office/drawing/2014/main" id="{0A1C2E07-C045-4E9E-935C-30E4C66A79AC}"/>
              </a:ext>
            </a:extLst>
          </p:cNvPr>
          <p:cNvSpPr txBox="1"/>
          <p:nvPr/>
        </p:nvSpPr>
        <p:spPr>
          <a:xfrm>
            <a:off x="1450181" y="2844224"/>
            <a:ext cx="6593682" cy="1384995"/>
          </a:xfrm>
          <a:prstGeom prst="rect">
            <a:avLst/>
          </a:prstGeom>
          <a:noFill/>
        </p:spPr>
        <p:txBody>
          <a:bodyPr wrap="square">
            <a:spAutoFit/>
          </a:bodyPr>
          <a:lstStyle/>
          <a:p>
            <a:r>
              <a:rPr lang="es-ES" b="1" dirty="0"/>
              <a:t>Punto de enlace (</a:t>
            </a:r>
            <a:r>
              <a:rPr lang="es-ES" b="1" dirty="0" err="1"/>
              <a:t>Endpoint</a:t>
            </a:r>
            <a:r>
              <a:rPr lang="es-ES" b="1" dirty="0"/>
              <a:t>): </a:t>
            </a:r>
            <a:r>
              <a:rPr lang="es-ES" dirty="0"/>
              <a:t>Utilización del nombre DNS único y el puerto (ej. 3306) provistos por AWS RDS como host en la cadena de conexión de la aplicación.</a:t>
            </a:r>
          </a:p>
          <a:p>
            <a:r>
              <a:rPr lang="es-ES" b="1" dirty="0"/>
              <a:t>Autorización de red: </a:t>
            </a:r>
            <a:r>
              <a:rPr lang="es-ES" dirty="0"/>
              <a:t>Vinculación del Grupo de Seguridad de la aplicación dentro de las reglas de entrada de la base de datos para permitir el flujo de tráfico entre ambas capas.</a:t>
            </a:r>
            <a:endParaRPr lang="es-EC" dirty="0"/>
          </a:p>
        </p:txBody>
      </p:sp>
    </p:spTree>
    <p:extLst>
      <p:ext uri="{BB962C8B-B14F-4D97-AF65-F5344CB8AC3E}">
        <p14:creationId xmlns:p14="http://schemas.microsoft.com/office/powerpoint/2010/main" val="19810058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3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4	CONCLUSIONES</a:t>
            </a:r>
            <a:endParaRPr/>
          </a:p>
        </p:txBody>
      </p:sp>
      <p:sp>
        <p:nvSpPr>
          <p:cNvPr id="550" name="Google Shape;550;p35"/>
          <p:cNvSpPr txBox="1">
            <a:spLocks noGrp="1"/>
          </p:cNvSpPr>
          <p:nvPr>
            <p:ph type="body" idx="1"/>
          </p:nvPr>
        </p:nvSpPr>
        <p:spPr>
          <a:xfrm>
            <a:off x="581192" y="1903306"/>
            <a:ext cx="8176800" cy="3616961"/>
          </a:xfrm>
          <a:prstGeom prst="rect">
            <a:avLst/>
          </a:prstGeom>
          <a:noFill/>
          <a:ln>
            <a:noFill/>
          </a:ln>
        </p:spPr>
        <p:txBody>
          <a:bodyPr spcFirstLastPara="1" wrap="square" lIns="91425" tIns="45700" rIns="91425" bIns="45700" anchor="ctr" anchorCtr="0">
            <a:normAutofit fontScale="92500" lnSpcReduction="20000"/>
          </a:bodyPr>
          <a:lstStyle/>
          <a:p>
            <a:pPr indent="-325869">
              <a:lnSpc>
                <a:spcPct val="110000"/>
              </a:lnSpc>
              <a:spcBef>
                <a:spcPts val="960"/>
              </a:spcBef>
              <a:buClr>
                <a:schemeClr val="dk1"/>
              </a:buClr>
              <a:buSzPct val="91999"/>
            </a:pPr>
            <a:r>
              <a:rPr lang="es-ES" dirty="0"/>
              <a:t>La adopción de Amazon RDS como solución </a:t>
            </a:r>
            <a:r>
              <a:rPr lang="es-ES" dirty="0" err="1"/>
              <a:t>DBaaS</a:t>
            </a:r>
            <a:r>
              <a:rPr lang="es-ES" dirty="0"/>
              <a:t> representa una transición estratégica desde la administración de infraestructura física hacia la optimización de procesos. Al delegar tareas operativas críticas como el aprovisionamiento, los respaldos automatizados y el mantenimiento de versiones los equipos de desarrollo pueden enfocar sus recursos exclusivamente en la lógica de negocio y en la estructuración eficiente de los datos, garantizando al mismo tiempo un entorno de alta disponibilidad.</a:t>
            </a:r>
          </a:p>
          <a:p>
            <a:pPr indent="-325869">
              <a:lnSpc>
                <a:spcPct val="110000"/>
              </a:lnSpc>
              <a:spcBef>
                <a:spcPts val="960"/>
              </a:spcBef>
              <a:buClr>
                <a:schemeClr val="dk1"/>
              </a:buClr>
              <a:buSzPct val="91999"/>
            </a:pPr>
            <a:r>
              <a:rPr lang="es-ES" dirty="0"/>
              <a:t>El despliegue exitoso de bases de datos en la nube exige un diseño de red riguroso, fundamentado en el aislamiento mediante </a:t>
            </a:r>
            <a:r>
              <a:rPr lang="es-ES" dirty="0" err="1"/>
              <a:t>VPCs</a:t>
            </a:r>
            <a:r>
              <a:rPr lang="es-ES" dirty="0"/>
              <a:t>, políticas estrictas de Grupos de Seguridad y cifrado de datos por defecto. Además, la comprensión técnica de las diferencias entre RDS estándar y arquitecturas nativas de la nube como Amazon Aurora, permite dimensionar la capa de persistencia con precisión, adaptándose a las exigencias de rendimiento y tolerancia a fallos de las aplicaciones modernas.</a:t>
            </a:r>
            <a:endParaRPr dirty="0">
              <a:solidFill>
                <a:schemeClr val="dk1"/>
              </a:solidFill>
            </a:endParaRPr>
          </a:p>
        </p:txBody>
      </p:sp>
      <p:sp>
        <p:nvSpPr>
          <p:cNvPr id="551" name="Google Shape;551;p3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35</a:t>
            </a:r>
            <a:endParaRPr sz="1400" b="0" i="0" u="none" strike="noStrike" cap="none">
              <a:solidFill>
                <a:srgbClr val="000000"/>
              </a:solidFill>
              <a:latin typeface="Arial"/>
              <a:ea typeface="Arial"/>
              <a:cs typeface="Arial"/>
              <a:sym typeface="Arial"/>
            </a:endParaRPr>
          </a:p>
        </p:txBody>
      </p:sp>
      <p:sp>
        <p:nvSpPr>
          <p:cNvPr id="552" name="Google Shape;552;p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4	CONCLUSIONES</a:t>
            </a:r>
            <a:endParaRPr sz="1300" b="0" i="0" u="none" strike="noStrike" cap="none">
              <a:solidFill>
                <a:srgbClr val="FFFF00"/>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53" name="Google Shape;553;p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BOOTSTRAP</a:t>
            </a:r>
            <a:endParaRPr sz="1100" b="0" i="0" u="none" strike="noStrike" cap="none">
              <a:solidFill>
                <a:schemeClr val="lt1"/>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4	CONCLUSIONES</a:t>
            </a:r>
            <a:endParaRPr sz="1300" b="0" i="0" u="none" strike="noStrike" cap="none">
              <a:solidFill>
                <a:srgbClr val="FFFF00"/>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54" name="Google Shape;554;p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1	OBJETIVOS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dirty="0">
                <a:solidFill>
                  <a:schemeClr val="lt1"/>
                </a:solidFill>
                <a:latin typeface="Gill Sans"/>
                <a:ea typeface="Gill Sans"/>
                <a:cs typeface="Gill Sans"/>
                <a:sym typeface="Gill Sans"/>
              </a:rPr>
              <a:t>2</a:t>
            </a:r>
            <a:r>
              <a:rPr lang="es-ES" sz="1100" b="0" i="0" u="none" strike="noStrike" cap="none" dirty="0">
                <a:solidFill>
                  <a:schemeClr val="lt1"/>
                </a:solidFill>
                <a:latin typeface="Gill Sans"/>
                <a:ea typeface="Gill Sans"/>
                <a:cs typeface="Gill Sans"/>
                <a:sym typeface="Gill Sans"/>
              </a:rPr>
              <a:t>	</a:t>
            </a:r>
            <a:r>
              <a:rPr lang="es-ES" sz="1100" dirty="0">
                <a:solidFill>
                  <a:schemeClr val="lt1"/>
                </a:solidFill>
                <a:latin typeface="Gill Sans"/>
                <a:ea typeface="Gill Sans"/>
                <a:cs typeface="Gill Sans"/>
                <a:sym typeface="Gill Sans"/>
              </a:rPr>
              <a:t>DESARROLLO</a:t>
            </a:r>
            <a:endParaRPr sz="1100" b="0" i="0" u="none" strike="noStrike" cap="none" dirty="0">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3	</a:t>
            </a:r>
            <a:r>
              <a:rPr lang="es-ES" sz="1100" dirty="0">
                <a:solidFill>
                  <a:schemeClr val="lt1"/>
                </a:solidFill>
                <a:latin typeface="Gill Sans"/>
                <a:ea typeface="Gill Sans"/>
                <a:cs typeface="Gill Sans"/>
                <a:sym typeface="Gill Sans"/>
              </a:rPr>
              <a:t>EJECUCIÓN</a:t>
            </a:r>
            <a:endParaRPr sz="1100" b="0" i="0" u="none" strike="noStrike" cap="none" dirty="0">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dirty="0">
                <a:solidFill>
                  <a:srgbClr val="FFFF00"/>
                </a:solidFill>
                <a:latin typeface="Gill Sans"/>
                <a:ea typeface="Gill Sans"/>
                <a:cs typeface="Gill Sans"/>
                <a:sym typeface="Gill Sans"/>
              </a:rPr>
              <a:t>4	CONCLUSIONES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dirty="0">
                <a:solidFill>
                  <a:schemeClr val="lt1"/>
                </a:solidFill>
                <a:latin typeface="Gill Sans"/>
                <a:ea typeface="Gill Sans"/>
                <a:cs typeface="Gill Sans"/>
                <a:sym typeface="Gill Sans"/>
              </a:rPr>
              <a:t>5</a:t>
            </a:r>
            <a:r>
              <a:rPr lang="es-ES" sz="1100" b="0" i="0" u="none" strike="noStrike" cap="none" dirty="0">
                <a:solidFill>
                  <a:schemeClr val="lt1"/>
                </a:solidFill>
                <a:latin typeface="Gill Sans"/>
                <a:ea typeface="Gill Sans"/>
                <a:cs typeface="Gill Sans"/>
                <a:sym typeface="Gill Sans"/>
              </a:rPr>
              <a:t>	BIBLIOGRAFÍA</a:t>
            </a:r>
            <a:endParaRPr sz="1100" b="0" i="0" u="none" strike="noStrike" cap="none" dirty="0">
              <a:solidFill>
                <a:srgbClr val="FFFF00"/>
              </a:solidFill>
              <a:latin typeface="Gill Sans"/>
              <a:ea typeface="Gill Sans"/>
              <a:cs typeface="Gill Sans"/>
              <a:sym typeface="Gill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p37"/>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5	Recomendaciones</a:t>
            </a:r>
            <a:endParaRPr dirty="0"/>
          </a:p>
        </p:txBody>
      </p:sp>
      <p:sp>
        <p:nvSpPr>
          <p:cNvPr id="570" name="Google Shape;570;p37"/>
          <p:cNvSpPr txBox="1">
            <a:spLocks noGrp="1"/>
          </p:cNvSpPr>
          <p:nvPr>
            <p:ph type="body" idx="1"/>
          </p:nvPr>
        </p:nvSpPr>
        <p:spPr>
          <a:xfrm>
            <a:off x="581200" y="2180500"/>
            <a:ext cx="8176800" cy="4246800"/>
          </a:xfrm>
          <a:prstGeom prst="rect">
            <a:avLst/>
          </a:prstGeom>
          <a:noFill/>
          <a:ln>
            <a:noFill/>
          </a:ln>
        </p:spPr>
        <p:txBody>
          <a:bodyPr spcFirstLastPara="1" wrap="square" lIns="91425" tIns="45700" rIns="91425" bIns="45700" anchor="ctr" anchorCtr="0">
            <a:normAutofit fontScale="85000" lnSpcReduction="10000"/>
          </a:bodyPr>
          <a:lstStyle/>
          <a:p>
            <a:pPr marL="0" lvl="0" indent="0" eaLnBrk="0" fontAlgn="base" hangingPunct="0">
              <a:spcBef>
                <a:spcPct val="0"/>
              </a:spcBef>
              <a:spcAft>
                <a:spcPct val="0"/>
              </a:spcAft>
              <a:buClrTx/>
              <a:buSzTx/>
              <a:buNone/>
            </a:pPr>
            <a:endParaRPr lang="es-EC" altLang="es-EC" dirty="0">
              <a:solidFill>
                <a:schemeClr val="tx1"/>
              </a:solidFill>
              <a:latin typeface="Arial" panose="020B0604020202020204" pitchFamily="34" charset="0"/>
            </a:endParaRPr>
          </a:p>
          <a:p>
            <a:pPr marL="285750" lvl="0" indent="-285750" algn="just">
              <a:lnSpc>
                <a:spcPct val="150000"/>
              </a:lnSpc>
            </a:pPr>
            <a:r>
              <a:rPr lang="es-ES" dirty="0"/>
              <a:t>Se recomienda adoptar un enfoque proactivo de seguridad integrando el modelado de amenazas en el ciclo de vida de la infraestructura. Aunque la configuración inicial permita credenciales autogestionadas, para despliegues en producción es imperativo </a:t>
            </a:r>
            <a:r>
              <a:rPr lang="es-ES" dirty="0" err="1"/>
              <a:t>transicionar</a:t>
            </a:r>
            <a:r>
              <a:rPr lang="es-ES" dirty="0"/>
              <a:t> hacia la rotación automática de credenciales (por ejemplo, mediante AWS </a:t>
            </a:r>
            <a:r>
              <a:rPr lang="es-ES" dirty="0" err="1"/>
              <a:t>Secrets</a:t>
            </a:r>
            <a:r>
              <a:rPr lang="es-ES" dirty="0"/>
              <a:t> Manager) y mantener un análisis de vulnerabilidades continuo sobre los Grupos de Seguridad y la VPC, garantizando el principio de mínimo privilegio.</a:t>
            </a:r>
          </a:p>
          <a:p>
            <a:pPr marL="285750" lvl="0" indent="-285750" algn="just">
              <a:lnSpc>
                <a:spcPct val="150000"/>
              </a:lnSpc>
            </a:pPr>
            <a:r>
              <a:rPr lang="es-ES" dirty="0"/>
              <a:t>Para maximizar el rendimiento en arquitecturas full-</a:t>
            </a:r>
            <a:r>
              <a:rPr lang="es-ES" dirty="0" err="1"/>
              <a:t>stack</a:t>
            </a:r>
            <a:r>
              <a:rPr lang="es-ES" dirty="0"/>
              <a:t> modernas, es crucial no depender únicamente del escalamiento de la base de datos. Se aconseja implementar técnicas de </a:t>
            </a:r>
            <a:r>
              <a:rPr lang="es-ES" dirty="0" err="1"/>
              <a:t>Connection</a:t>
            </a:r>
            <a:r>
              <a:rPr lang="es-ES" dirty="0"/>
              <a:t> </a:t>
            </a:r>
            <a:r>
              <a:rPr lang="es-ES" dirty="0" err="1"/>
              <a:t>Pooling</a:t>
            </a:r>
            <a:r>
              <a:rPr lang="es-ES" dirty="0"/>
              <a:t> (agrupación de conexiones) a nivel del servidor de aplicaciones (usando herramientas nativas de los </a:t>
            </a:r>
            <a:r>
              <a:rPr lang="es-ES" dirty="0" err="1"/>
              <a:t>frameworks</a:t>
            </a:r>
            <a:r>
              <a:rPr lang="es-ES" dirty="0"/>
              <a:t> de desarrollo). Esto previene la saturación de los recursos computacionales de la instancia RDS ante picos de tráfico concurrente, estabilizando la comunicación entre el </a:t>
            </a:r>
            <a:r>
              <a:rPr lang="es-ES" dirty="0" err="1"/>
              <a:t>backend</a:t>
            </a:r>
            <a:r>
              <a:rPr lang="es-ES" dirty="0"/>
              <a:t> y la capa de persistencia de datos.</a:t>
            </a:r>
            <a:endParaRPr lang="es-EC" dirty="0"/>
          </a:p>
        </p:txBody>
      </p:sp>
      <p:sp>
        <p:nvSpPr>
          <p:cNvPr id="571" name="Google Shape;571;p37"/>
          <p:cNvSpPr txBox="1"/>
          <p:nvPr/>
        </p:nvSpPr>
        <p:spPr>
          <a:xfrm>
            <a:off x="11704320" y="6427410"/>
            <a:ext cx="46736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37</a:t>
            </a:r>
            <a:endParaRPr sz="1400" b="0" i="0" u="none" strike="noStrike" cap="none">
              <a:solidFill>
                <a:srgbClr val="000000"/>
              </a:solidFill>
              <a:latin typeface="Arial"/>
              <a:ea typeface="Arial"/>
              <a:cs typeface="Arial"/>
              <a:sym typeface="Arial"/>
            </a:endParaRPr>
          </a:p>
        </p:txBody>
      </p:sp>
      <p:sp>
        <p:nvSpPr>
          <p:cNvPr id="572" name="Google Shape;572;p3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73" name="Google Shape;573;p3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BOOTSTRAP</a:t>
            </a:r>
            <a:endParaRPr sz="1100" b="0" i="0" u="none" strike="noStrike" cap="none">
              <a:solidFill>
                <a:schemeClr val="lt1"/>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74" name="Google Shape;574;p3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1	OBJETIVOS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dirty="0">
                <a:solidFill>
                  <a:schemeClr val="lt1"/>
                </a:solidFill>
                <a:latin typeface="Gill Sans"/>
                <a:ea typeface="Gill Sans"/>
                <a:cs typeface="Gill Sans"/>
                <a:sym typeface="Gill Sans"/>
              </a:rPr>
              <a:t>2</a:t>
            </a:r>
            <a:r>
              <a:rPr lang="es-ES" sz="1100" b="0" i="0" u="none" strike="noStrike" cap="none" dirty="0">
                <a:solidFill>
                  <a:schemeClr val="lt1"/>
                </a:solidFill>
                <a:latin typeface="Gill Sans"/>
                <a:ea typeface="Gill Sans"/>
                <a:cs typeface="Gill Sans"/>
                <a:sym typeface="Gill Sans"/>
              </a:rPr>
              <a:t>	</a:t>
            </a:r>
            <a:r>
              <a:rPr lang="es-ES" sz="1100" dirty="0">
                <a:solidFill>
                  <a:schemeClr val="lt1"/>
                </a:solidFill>
                <a:latin typeface="Gill Sans"/>
                <a:ea typeface="Gill Sans"/>
                <a:cs typeface="Gill Sans"/>
                <a:sym typeface="Gill Sans"/>
              </a:rPr>
              <a:t>DESARROLLO</a:t>
            </a:r>
            <a:endParaRPr sz="1100" b="0" i="0" u="none" strike="noStrike" cap="none" dirty="0">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3	</a:t>
            </a:r>
            <a:r>
              <a:rPr lang="es-ES" sz="1100" dirty="0">
                <a:solidFill>
                  <a:schemeClr val="lt1"/>
                </a:solidFill>
                <a:latin typeface="Gill Sans"/>
                <a:ea typeface="Gill Sans"/>
                <a:cs typeface="Gill Sans"/>
                <a:sym typeface="Gill Sans"/>
              </a:rPr>
              <a:t>EJECUCIÓN</a:t>
            </a:r>
            <a:endParaRPr sz="1100" b="0" i="0" u="none" strike="noStrike" cap="none" dirty="0">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4	CONCLUSIONES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rgbClr val="FFFF00"/>
                </a:solidFill>
                <a:latin typeface="Gill Sans"/>
                <a:ea typeface="Gill Sans"/>
                <a:cs typeface="Gill Sans"/>
                <a:sym typeface="Gill Sans"/>
              </a:rPr>
              <a:t>5	RECOMENDACIONES</a:t>
            </a: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dirty="0">
                <a:solidFill>
                  <a:schemeClr val="bg1"/>
                </a:solidFill>
                <a:latin typeface="Gill Sans"/>
                <a:ea typeface="Gill Sans"/>
                <a:cs typeface="Gill Sans"/>
                <a:sym typeface="Gill Sans"/>
              </a:rPr>
              <a:t>6	BIBLIOGRAFÍA</a:t>
            </a:r>
            <a:endParaRPr sz="1100" b="0" i="0" u="none" strike="noStrike" cap="none" dirty="0">
              <a:solidFill>
                <a:schemeClr val="bg1"/>
              </a:solidFill>
              <a:latin typeface="Gill Sans"/>
              <a:ea typeface="Gill Sans"/>
              <a:cs typeface="Gill Sans"/>
              <a:sym typeface="Gill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68">
          <a:extLst>
            <a:ext uri="{FF2B5EF4-FFF2-40B4-BE49-F238E27FC236}">
              <a16:creationId xmlns:a16="http://schemas.microsoft.com/office/drawing/2014/main" id="{F178CF4D-5A3C-3EFC-595B-8BD4FC541E9E}"/>
            </a:ext>
          </a:extLst>
        </p:cNvPr>
        <p:cNvGrpSpPr/>
        <p:nvPr/>
      </p:nvGrpSpPr>
      <p:grpSpPr>
        <a:xfrm>
          <a:off x="0" y="0"/>
          <a:ext cx="0" cy="0"/>
          <a:chOff x="0" y="0"/>
          <a:chExt cx="0" cy="0"/>
        </a:xfrm>
      </p:grpSpPr>
      <p:sp>
        <p:nvSpPr>
          <p:cNvPr id="569" name="Google Shape;569;p37">
            <a:extLst>
              <a:ext uri="{FF2B5EF4-FFF2-40B4-BE49-F238E27FC236}">
                <a16:creationId xmlns:a16="http://schemas.microsoft.com/office/drawing/2014/main" id="{06B663DC-A00E-F160-29E5-2D8584480440}"/>
              </a:ext>
            </a:extLst>
          </p:cNvPr>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6	BIBLIOGRAFÍA</a:t>
            </a:r>
            <a:endParaRPr/>
          </a:p>
        </p:txBody>
      </p:sp>
      <p:sp>
        <p:nvSpPr>
          <p:cNvPr id="570" name="Google Shape;570;p37">
            <a:extLst>
              <a:ext uri="{FF2B5EF4-FFF2-40B4-BE49-F238E27FC236}">
                <a16:creationId xmlns:a16="http://schemas.microsoft.com/office/drawing/2014/main" id="{A02ACF43-BD99-A89F-8246-B85834E3610D}"/>
              </a:ext>
            </a:extLst>
          </p:cNvPr>
          <p:cNvSpPr txBox="1">
            <a:spLocks noGrp="1"/>
          </p:cNvSpPr>
          <p:nvPr>
            <p:ph type="body" idx="1"/>
          </p:nvPr>
        </p:nvSpPr>
        <p:spPr>
          <a:xfrm>
            <a:off x="581200" y="2180500"/>
            <a:ext cx="8176800" cy="4246800"/>
          </a:xfrm>
          <a:prstGeom prst="rect">
            <a:avLst/>
          </a:prstGeom>
          <a:noFill/>
          <a:ln>
            <a:noFill/>
          </a:ln>
        </p:spPr>
        <p:txBody>
          <a:bodyPr spcFirstLastPara="1" wrap="square" lIns="91425" tIns="45700" rIns="91425" bIns="45700" anchor="ctr" anchorCtr="0">
            <a:normAutofit/>
          </a:bodyPr>
          <a:lstStyle/>
          <a:p>
            <a:pPr marL="0" lvl="0" indent="0" eaLnBrk="0" fontAlgn="base" hangingPunct="0">
              <a:spcBef>
                <a:spcPct val="0"/>
              </a:spcBef>
              <a:spcAft>
                <a:spcPct val="0"/>
              </a:spcAft>
              <a:buClrTx/>
              <a:buSzTx/>
              <a:buNone/>
            </a:pPr>
            <a:endParaRPr lang="es-EC" altLang="es-EC" dirty="0">
              <a:solidFill>
                <a:schemeClr val="tx1"/>
              </a:solidFill>
              <a:latin typeface="Arial" panose="020B0604020202020204" pitchFamily="34" charset="0"/>
            </a:endParaRPr>
          </a:p>
          <a:p>
            <a:pPr marL="342900" indent="-342900" eaLnBrk="0" fontAlgn="base" hangingPunct="0">
              <a:lnSpc>
                <a:spcPct val="107000"/>
              </a:lnSpc>
              <a:spcAft>
                <a:spcPts val="800"/>
              </a:spcAft>
              <a:buFont typeface="Symbol" panose="05050102010706020507" pitchFamily="18" charset="2"/>
              <a:buChar char=""/>
            </a:pPr>
            <a:r>
              <a:rPr lang="es-EC" altLang="es-EC" dirty="0">
                <a:latin typeface="Times New Roman" panose="02020603050405020304" pitchFamily="18" charset="0"/>
                <a:ea typeface="Calibri" panose="020F0502020204030204" pitchFamily="34" charset="0"/>
                <a:cs typeface="Arial" panose="020B0604020202020204" pitchFamily="34" charset="0"/>
              </a:rPr>
              <a:t>Deitel, P., &amp; Deitel, H. (</a:t>
            </a:r>
            <a:r>
              <a:rPr lang="es-EC" altLang="es-EC">
                <a:latin typeface="Times New Roman" panose="02020603050405020304" pitchFamily="18" charset="0"/>
                <a:ea typeface="Calibri" panose="020F0502020204030204" pitchFamily="34" charset="0"/>
                <a:cs typeface="Arial" panose="020B0604020202020204" pitchFamily="34" charset="0"/>
              </a:rPr>
              <a:t>2017).NET </a:t>
            </a:r>
            <a:r>
              <a:rPr lang="es-EC" altLang="es-EC" dirty="0">
                <a:latin typeface="Times New Roman" panose="02020603050405020304" pitchFamily="18" charset="0"/>
                <a:ea typeface="Calibri" panose="020F0502020204030204" pitchFamily="34" charset="0"/>
                <a:cs typeface="Arial" panose="020B0604020202020204" pitchFamily="34" charset="0"/>
              </a:rPr>
              <a:t>How </a:t>
            </a:r>
            <a:r>
              <a:rPr lang="es-EC" altLang="es-EC" dirty="0" err="1">
                <a:latin typeface="Times New Roman" panose="02020603050405020304" pitchFamily="18" charset="0"/>
                <a:ea typeface="Calibri" panose="020F0502020204030204" pitchFamily="34" charset="0"/>
                <a:cs typeface="Arial" panose="020B0604020202020204" pitchFamily="34" charset="0"/>
              </a:rPr>
              <a:t>to</a:t>
            </a:r>
            <a:r>
              <a:rPr lang="es-EC" altLang="es-EC" dirty="0">
                <a:latin typeface="Times New Roman" panose="02020603050405020304" pitchFamily="18" charset="0"/>
                <a:ea typeface="Calibri" panose="020F0502020204030204" pitchFamily="34" charset="0"/>
                <a:cs typeface="Arial" panose="020B0604020202020204" pitchFamily="34" charset="0"/>
              </a:rPr>
              <a:t> </a:t>
            </a:r>
            <a:r>
              <a:rPr lang="es-EC" altLang="es-EC" dirty="0" err="1">
                <a:latin typeface="Times New Roman" panose="02020603050405020304" pitchFamily="18" charset="0"/>
                <a:ea typeface="Calibri" panose="020F0502020204030204" pitchFamily="34" charset="0"/>
                <a:cs typeface="Arial" panose="020B0604020202020204" pitchFamily="34" charset="0"/>
              </a:rPr>
              <a:t>Program</a:t>
            </a:r>
            <a:r>
              <a:rPr lang="es-EC" altLang="es-EC" dirty="0">
                <a:latin typeface="Times New Roman" panose="02020603050405020304" pitchFamily="18" charset="0"/>
                <a:ea typeface="Calibri" panose="020F0502020204030204" pitchFamily="34" charset="0"/>
                <a:cs typeface="Arial" panose="020B0604020202020204" pitchFamily="34" charset="0"/>
              </a:rPr>
              <a:t> (Late </a:t>
            </a:r>
            <a:r>
              <a:rPr lang="es-EC" altLang="es-EC" dirty="0" err="1">
                <a:latin typeface="Times New Roman" panose="02020603050405020304" pitchFamily="18" charset="0"/>
                <a:ea typeface="Calibri" panose="020F0502020204030204" pitchFamily="34" charset="0"/>
                <a:cs typeface="Arial" panose="020B0604020202020204" pitchFamily="34" charset="0"/>
              </a:rPr>
              <a:t>Objects</a:t>
            </a:r>
            <a:r>
              <a:rPr lang="es-EC" altLang="es-EC" dirty="0">
                <a:latin typeface="Times New Roman" panose="02020603050405020304" pitchFamily="18" charset="0"/>
                <a:ea typeface="Calibri" panose="020F0502020204030204" pitchFamily="34" charset="0"/>
                <a:cs typeface="Arial" panose="020B0604020202020204" pitchFamily="34" charset="0"/>
              </a:rPr>
              <a:t>) (11th ed.). Pearson.</a:t>
            </a:r>
          </a:p>
          <a:p>
            <a:pPr marL="342900" indent="-342900" eaLnBrk="0" fontAlgn="base" hangingPunct="0">
              <a:lnSpc>
                <a:spcPct val="107000"/>
              </a:lnSpc>
              <a:spcAft>
                <a:spcPts val="800"/>
              </a:spcAft>
              <a:buFont typeface="Symbol" panose="05050102010706020507" pitchFamily="18" charset="2"/>
              <a:buChar char=""/>
            </a:pPr>
            <a:r>
              <a:rPr lang="es-EC" altLang="es-EC" dirty="0">
                <a:latin typeface="Times New Roman" panose="02020603050405020304" pitchFamily="18" charset="0"/>
                <a:ea typeface="Calibri" panose="020F0502020204030204" pitchFamily="34" charset="0"/>
                <a:cs typeface="Arial" panose="020B0604020202020204" pitchFamily="34" charset="0"/>
              </a:rPr>
              <a:t>Pressman, R. S., &amp; Maxim, B. R. (2019). Software </a:t>
            </a:r>
            <a:r>
              <a:rPr lang="es-EC" altLang="es-EC" dirty="0" err="1">
                <a:latin typeface="Times New Roman" panose="02020603050405020304" pitchFamily="18" charset="0"/>
                <a:ea typeface="Calibri" panose="020F0502020204030204" pitchFamily="34" charset="0"/>
                <a:cs typeface="Arial" panose="020B0604020202020204" pitchFamily="34" charset="0"/>
              </a:rPr>
              <a:t>Engineering</a:t>
            </a:r>
            <a:r>
              <a:rPr lang="es-EC" altLang="es-EC" dirty="0">
                <a:latin typeface="Times New Roman" panose="02020603050405020304" pitchFamily="18" charset="0"/>
                <a:ea typeface="Calibri" panose="020F0502020204030204" pitchFamily="34" charset="0"/>
                <a:cs typeface="Arial" panose="020B0604020202020204" pitchFamily="34" charset="0"/>
              </a:rPr>
              <a:t>: A </a:t>
            </a:r>
            <a:r>
              <a:rPr lang="es-EC" altLang="es-EC" dirty="0" err="1">
                <a:latin typeface="Times New Roman" panose="02020603050405020304" pitchFamily="18" charset="0"/>
                <a:ea typeface="Calibri" panose="020F0502020204030204" pitchFamily="34" charset="0"/>
                <a:cs typeface="Arial" panose="020B0604020202020204" pitchFamily="34" charset="0"/>
              </a:rPr>
              <a:t>Practitioner's</a:t>
            </a:r>
            <a:r>
              <a:rPr lang="es-EC" altLang="es-EC" dirty="0">
                <a:latin typeface="Times New Roman" panose="02020603050405020304" pitchFamily="18" charset="0"/>
                <a:ea typeface="Calibri" panose="020F0502020204030204" pitchFamily="34" charset="0"/>
                <a:cs typeface="Arial" panose="020B0604020202020204" pitchFamily="34" charset="0"/>
              </a:rPr>
              <a:t> </a:t>
            </a:r>
            <a:r>
              <a:rPr lang="es-EC" altLang="es-EC" dirty="0" err="1">
                <a:latin typeface="Times New Roman" panose="02020603050405020304" pitchFamily="18" charset="0"/>
                <a:ea typeface="Calibri" panose="020F0502020204030204" pitchFamily="34" charset="0"/>
                <a:cs typeface="Arial" panose="020B0604020202020204" pitchFamily="34" charset="0"/>
              </a:rPr>
              <a:t>Approach</a:t>
            </a:r>
            <a:r>
              <a:rPr lang="es-EC" altLang="es-EC" dirty="0">
                <a:latin typeface="Times New Roman" panose="02020603050405020304" pitchFamily="18" charset="0"/>
                <a:ea typeface="Calibri" panose="020F0502020204030204" pitchFamily="34" charset="0"/>
                <a:cs typeface="Arial" panose="020B0604020202020204" pitchFamily="34" charset="0"/>
              </a:rPr>
              <a:t> (9th ed.). McGraw-Hill </a:t>
            </a:r>
            <a:r>
              <a:rPr lang="es-EC" altLang="es-EC" dirty="0" err="1">
                <a:latin typeface="Times New Roman" panose="02020603050405020304" pitchFamily="18" charset="0"/>
                <a:ea typeface="Calibri" panose="020F0502020204030204" pitchFamily="34" charset="0"/>
                <a:cs typeface="Arial" panose="020B0604020202020204" pitchFamily="34" charset="0"/>
              </a:rPr>
              <a:t>Education</a:t>
            </a:r>
            <a:r>
              <a:rPr lang="es-EC" altLang="es-EC" dirty="0">
                <a:latin typeface="Times New Roman" panose="02020603050405020304" pitchFamily="18" charset="0"/>
                <a:ea typeface="Calibri" panose="020F0502020204030204" pitchFamily="34" charset="0"/>
                <a:cs typeface="Arial" panose="020B0604020202020204" pitchFamily="34" charset="0"/>
              </a:rPr>
              <a:t>.</a:t>
            </a:r>
          </a:p>
          <a:p>
            <a:pPr marL="342900" indent="-342900" eaLnBrk="0" fontAlgn="base" hangingPunct="0">
              <a:lnSpc>
                <a:spcPct val="107000"/>
              </a:lnSpc>
              <a:spcAft>
                <a:spcPts val="800"/>
              </a:spcAft>
              <a:buFont typeface="Symbol" panose="05050102010706020507" pitchFamily="18" charset="2"/>
              <a:buChar char=""/>
            </a:pPr>
            <a:r>
              <a:rPr lang="es-EC" altLang="es-EC" dirty="0">
                <a:latin typeface="Times New Roman" panose="02020603050405020304" pitchFamily="18" charset="0"/>
                <a:ea typeface="Calibri" panose="020F0502020204030204" pitchFamily="34" charset="0"/>
                <a:cs typeface="Arial" panose="020B0604020202020204" pitchFamily="34" charset="0"/>
              </a:rPr>
              <a:t>Eckel, B. (2006). </a:t>
            </a:r>
            <a:r>
              <a:rPr lang="es-EC" altLang="es-EC" dirty="0" err="1">
                <a:latin typeface="Times New Roman" panose="02020603050405020304" pitchFamily="18" charset="0"/>
                <a:ea typeface="Calibri" panose="020F0502020204030204" pitchFamily="34" charset="0"/>
                <a:cs typeface="Arial" panose="020B0604020202020204" pitchFamily="34" charset="0"/>
              </a:rPr>
              <a:t>Thinking</a:t>
            </a:r>
            <a:r>
              <a:rPr lang="es-EC" altLang="es-EC" dirty="0">
                <a:latin typeface="Times New Roman" panose="02020603050405020304" pitchFamily="18" charset="0"/>
                <a:ea typeface="Calibri" panose="020F0502020204030204" pitchFamily="34" charset="0"/>
                <a:cs typeface="Arial" panose="020B0604020202020204" pitchFamily="34" charset="0"/>
              </a:rPr>
              <a:t> in Java (4th ed.). Prentice Hall.</a:t>
            </a:r>
          </a:p>
          <a:p>
            <a:pPr marL="342900" indent="-342900" eaLnBrk="0" fontAlgn="base" hangingPunct="0">
              <a:lnSpc>
                <a:spcPct val="107000"/>
              </a:lnSpc>
              <a:spcAft>
                <a:spcPts val="800"/>
              </a:spcAft>
              <a:buFont typeface="Symbol" panose="05050102010706020507" pitchFamily="18" charset="2"/>
              <a:buChar char=""/>
            </a:pPr>
            <a:r>
              <a:rPr lang="es-EC" altLang="es-EC" dirty="0">
                <a:latin typeface="Times New Roman" panose="02020603050405020304" pitchFamily="18" charset="0"/>
                <a:ea typeface="Calibri" panose="020F0502020204030204" pitchFamily="34" charset="0"/>
                <a:cs typeface="Arial" panose="020B0604020202020204" pitchFamily="34" charset="0"/>
              </a:rPr>
              <a:t>Bloch, J. (2018). </a:t>
            </a:r>
            <a:r>
              <a:rPr lang="es-EC" altLang="es-EC" dirty="0" err="1">
                <a:latin typeface="Times New Roman" panose="02020603050405020304" pitchFamily="18" charset="0"/>
                <a:ea typeface="Calibri" panose="020F0502020204030204" pitchFamily="34" charset="0"/>
                <a:cs typeface="Arial" panose="020B0604020202020204" pitchFamily="34" charset="0"/>
              </a:rPr>
              <a:t>Effective</a:t>
            </a:r>
            <a:r>
              <a:rPr lang="es-EC" altLang="es-EC" dirty="0">
                <a:latin typeface="Times New Roman" panose="02020603050405020304" pitchFamily="18" charset="0"/>
                <a:ea typeface="Calibri" panose="020F0502020204030204" pitchFamily="34" charset="0"/>
                <a:cs typeface="Arial" panose="020B0604020202020204" pitchFamily="34" charset="0"/>
              </a:rPr>
              <a:t> Java (3rd ed.). Addison-Wesley.</a:t>
            </a:r>
          </a:p>
          <a:p>
            <a:pPr marL="342900" indent="-342900" eaLnBrk="0" fontAlgn="base" hangingPunct="0">
              <a:lnSpc>
                <a:spcPct val="107000"/>
              </a:lnSpc>
              <a:spcAft>
                <a:spcPts val="800"/>
              </a:spcAft>
              <a:buFont typeface="Symbol" panose="05050102010706020507" pitchFamily="18" charset="2"/>
              <a:buChar char=""/>
            </a:pPr>
            <a:r>
              <a:rPr lang="es-EC" altLang="es-EC" dirty="0">
                <a:latin typeface="Times New Roman" panose="02020603050405020304" pitchFamily="18" charset="0"/>
                <a:ea typeface="Calibri" panose="020F0502020204030204" pitchFamily="34" charset="0"/>
                <a:cs typeface="Arial" panose="020B0604020202020204" pitchFamily="34" charset="0"/>
              </a:rPr>
              <a:t>Sierra, K., &amp; Bates, B. (2015). Head First Java (2nd ed.). O'Reilly Media. </a:t>
            </a:r>
          </a:p>
          <a:p>
            <a:pPr marL="342900" lvl="0" indent="-342900">
              <a:lnSpc>
                <a:spcPct val="107000"/>
              </a:lnSpc>
              <a:spcAft>
                <a:spcPts val="800"/>
              </a:spcAft>
              <a:buFont typeface="Symbol" panose="05050102010706020507" pitchFamily="18" charset="2"/>
              <a:buChar char=""/>
            </a:pPr>
            <a:endParaRPr lang="es-EC" dirty="0">
              <a:latin typeface="Calibri" panose="020F0502020204030204" pitchFamily="34" charset="0"/>
              <a:ea typeface="Calibri" panose="020F0502020204030204" pitchFamily="34" charset="0"/>
              <a:cs typeface="Arial" panose="020B0604020202020204" pitchFamily="34" charset="0"/>
            </a:endParaRPr>
          </a:p>
        </p:txBody>
      </p:sp>
      <p:sp>
        <p:nvSpPr>
          <p:cNvPr id="571" name="Google Shape;571;p37">
            <a:extLst>
              <a:ext uri="{FF2B5EF4-FFF2-40B4-BE49-F238E27FC236}">
                <a16:creationId xmlns:a16="http://schemas.microsoft.com/office/drawing/2014/main" id="{9DF8B1C3-B993-166F-6EBC-9089726F86BC}"/>
              </a:ext>
            </a:extLst>
          </p:cNvPr>
          <p:cNvSpPr txBox="1"/>
          <p:nvPr/>
        </p:nvSpPr>
        <p:spPr>
          <a:xfrm>
            <a:off x="11704320" y="6427410"/>
            <a:ext cx="46736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37</a:t>
            </a:r>
            <a:endParaRPr sz="1400" b="0" i="0" u="none" strike="noStrike" cap="none">
              <a:solidFill>
                <a:srgbClr val="000000"/>
              </a:solidFill>
              <a:latin typeface="Arial"/>
              <a:ea typeface="Arial"/>
              <a:cs typeface="Arial"/>
              <a:sym typeface="Arial"/>
            </a:endParaRPr>
          </a:p>
        </p:txBody>
      </p:sp>
      <p:sp>
        <p:nvSpPr>
          <p:cNvPr id="572" name="Google Shape;572;p37">
            <a:extLst>
              <a:ext uri="{FF2B5EF4-FFF2-40B4-BE49-F238E27FC236}">
                <a16:creationId xmlns:a16="http://schemas.microsoft.com/office/drawing/2014/main" id="{6CB4F977-7235-DC09-31DF-F6906E94D384}"/>
              </a:ext>
            </a:extLst>
          </p:cNvPr>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73" name="Google Shape;573;p37">
            <a:extLst>
              <a:ext uri="{FF2B5EF4-FFF2-40B4-BE49-F238E27FC236}">
                <a16:creationId xmlns:a16="http://schemas.microsoft.com/office/drawing/2014/main" id="{0FA50027-49CF-F344-D604-4455777EB5C1}"/>
              </a:ext>
            </a:extLst>
          </p:cNvPr>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BOOTSTRAP</a:t>
            </a:r>
            <a:endParaRPr sz="1100" b="0" i="0" u="none" strike="noStrike" cap="none">
              <a:solidFill>
                <a:schemeClr val="lt1"/>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74" name="Google Shape;574;p37">
            <a:extLst>
              <a:ext uri="{FF2B5EF4-FFF2-40B4-BE49-F238E27FC236}">
                <a16:creationId xmlns:a16="http://schemas.microsoft.com/office/drawing/2014/main" id="{B071C1B9-901C-4143-146E-C0A0027B4A94}"/>
              </a:ext>
            </a:extLst>
          </p:cNvPr>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Tree>
    <p:extLst>
      <p:ext uri="{BB962C8B-B14F-4D97-AF65-F5344CB8AC3E}">
        <p14:creationId xmlns:p14="http://schemas.microsoft.com/office/powerpoint/2010/main" val="1618937375"/>
      </p:ext>
    </p:extLst>
  </p:cSld>
  <p:clrMapOvr>
    <a:masterClrMapping/>
  </p:clrMapOvr>
</p:sld>
</file>

<file path=ppt/theme/theme1.xml><?xml version="1.0" encoding="utf-8"?>
<a:theme xmlns:a="http://schemas.openxmlformats.org/drawing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Dividendo">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3.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374</TotalTime>
  <Words>3558</Words>
  <Application>Microsoft Office PowerPoint</Application>
  <PresentationFormat>Panorámica</PresentationFormat>
  <Paragraphs>646</Paragraphs>
  <Slides>19</Slides>
  <Notes>18</Notes>
  <HiddenSlides>0</HiddenSlides>
  <MMClips>0</MMClips>
  <ScaleCrop>false</ScaleCrop>
  <HeadingPairs>
    <vt:vector size="6" baseType="variant">
      <vt:variant>
        <vt:lpstr>Fuentes usadas</vt:lpstr>
      </vt:variant>
      <vt:variant>
        <vt:i4>8</vt:i4>
      </vt:variant>
      <vt:variant>
        <vt:lpstr>Tema</vt:lpstr>
      </vt:variant>
      <vt:variant>
        <vt:i4>2</vt:i4>
      </vt:variant>
      <vt:variant>
        <vt:lpstr>Títulos de diapositiva</vt:lpstr>
      </vt:variant>
      <vt:variant>
        <vt:i4>19</vt:i4>
      </vt:variant>
    </vt:vector>
  </HeadingPairs>
  <TitlesOfParts>
    <vt:vector size="29" baseType="lpstr">
      <vt:lpstr>Symbol</vt:lpstr>
      <vt:lpstr>Arial</vt:lpstr>
      <vt:lpstr>Times New Roman</vt:lpstr>
      <vt:lpstr>Noto Sans Symbols</vt:lpstr>
      <vt:lpstr>Calibri</vt:lpstr>
      <vt:lpstr>Wingdings 2</vt:lpstr>
      <vt:lpstr>Gill Sans</vt:lpstr>
      <vt:lpstr>Gill Sans MT</vt:lpstr>
      <vt:lpstr>Dividendo</vt:lpstr>
      <vt:lpstr>1_Dividendo</vt:lpstr>
      <vt:lpstr>BASE DE DATOS SQL SERVER EN LA NUBE (AWS) </vt:lpstr>
      <vt:lpstr>Presentación de PowerPoint</vt:lpstr>
      <vt:lpstr>INTRODUCCIÓN</vt:lpstr>
      <vt:lpstr>OBJETIVO</vt:lpstr>
      <vt:lpstr>2 DESARROLLO</vt:lpstr>
      <vt:lpstr>2.1.1. CREAR CUENTA EN AWS</vt:lpstr>
      <vt:lpstr>Presentación de PowerPoint</vt:lpstr>
      <vt:lpstr>2.2 RDS Y AURORA</vt:lpstr>
      <vt:lpstr>2.2 CREACIÓN DE LA BASE DE DATOS</vt:lpstr>
      <vt:lpstr>2.2 MODO DE CREACIÓN DE LA BASE DE DATOS</vt:lpstr>
      <vt:lpstr>2.2 Configuración de Ajustes y Seguridad</vt:lpstr>
      <vt:lpstr>2.2 Operaciones y Mantenimiento</vt:lpstr>
      <vt:lpstr>2.2 Configuración de Reglas de Entrada (Inbound Rules)</vt:lpstr>
      <vt:lpstr>2.2 Puesta en marcha</vt:lpstr>
      <vt:lpstr>2.2 Puesta en marcha</vt:lpstr>
      <vt:lpstr>2.2 Conexión con la aplicación</vt:lpstr>
      <vt:lpstr>4 CONCLUSIONES</vt:lpstr>
      <vt:lpstr>5 Recomendaciones</vt:lpstr>
      <vt:lpstr>6 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BDD LOCAL SOAP JAVA</dc:title>
  <dc:creator>Michael Villarruel</dc:creator>
  <cp:lastModifiedBy>CRISTIAN ISAAK ROBALINO CURAY</cp:lastModifiedBy>
  <cp:revision>19</cp:revision>
  <dcterms:created xsi:type="dcterms:W3CDTF">2020-07-10T23:33:49Z</dcterms:created>
  <dcterms:modified xsi:type="dcterms:W3CDTF">2026-06-09T04:18:50Z</dcterms:modified>
</cp:coreProperties>
</file>